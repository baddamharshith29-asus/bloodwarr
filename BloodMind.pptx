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5"/>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8B0000">
              <a:alpha val="25000"/>
            </a:srgbClr>
          </a:solidFill>
          <a:ln w="12700">
            <a:solidFill>
              <a:srgbClr val="C0152B">
                <a:alpha val="40000"/>
              </a:srgbClr>
            </a:solidFill>
            <a:prstDash val="solid"/>
          </a:ln>
        </p:spPr>
      </p:sp>
      <p:sp>
        <p:nvSpPr>
          <p:cNvPr id="3" name="Shape 1"/>
          <p:cNvSpPr/>
          <p:nvPr/>
        </p:nvSpPr>
        <p:spPr>
          <a:xfrm>
            <a:off x="7498080" y="182880"/>
            <a:ext cx="2286000" cy="2286000"/>
          </a:xfrm>
          <a:prstGeom prst="ellipse">
            <a:avLst/>
          </a:prstGeom>
          <a:solidFill>
            <a:srgbClr val="C0152B">
              <a:alpha val="20000"/>
            </a:srgbClr>
          </a:solidFill>
          <a:ln w="6350">
            <a:solidFill>
              <a:srgbClr val="FF4D6D">
                <a:alpha val="50000"/>
              </a:srgbClr>
            </a:solidFill>
            <a:prstDash val="solid"/>
          </a:ln>
        </p:spPr>
      </p:sp>
      <p:sp>
        <p:nvSpPr>
          <p:cNvPr id="4" name="Shape 2"/>
          <p:cNvSpPr/>
          <p:nvPr/>
        </p:nvSpPr>
        <p:spPr>
          <a:xfrm>
            <a:off x="365760" y="822960"/>
            <a:ext cx="64008" cy="3931920"/>
          </a:xfrm>
          <a:prstGeom prst="rect">
            <a:avLst/>
          </a:prstGeom>
          <a:solidFill>
            <a:srgbClr val="C0152B"/>
          </a:solidFill>
          <a:ln/>
        </p:spPr>
      </p:sp>
      <p:sp>
        <p:nvSpPr>
          <p:cNvPr id="5" name="Text 3"/>
          <p:cNvSpPr/>
          <p:nvPr/>
        </p:nvSpPr>
        <p:spPr>
          <a:xfrm>
            <a:off x="594360" y="868680"/>
            <a:ext cx="5486400" cy="914400"/>
          </a:xfrm>
          <a:prstGeom prst="rect">
            <a:avLst/>
          </a:prstGeom>
          <a:noFill/>
          <a:ln/>
        </p:spPr>
        <p:txBody>
          <a:bodyPr wrap="square" lIns="0" tIns="0" rIns="0" bIns="0" rtlCol="0" anchor="ctr"/>
          <a:lstStyle/>
          <a:p>
            <a:pPr indent="0" marL="0">
              <a:buNone/>
            </a:pPr>
            <a:r>
              <a:rPr lang="en-US" sz="6400" b="1" dirty="0">
                <a:solidFill>
                  <a:srgbClr val="FFFFFF"/>
                </a:solidFill>
                <a:latin typeface="Arial Black" pitchFamily="34" charset="0"/>
                <a:ea typeface="Arial Black" pitchFamily="34" charset="-122"/>
                <a:cs typeface="Arial Black" pitchFamily="34" charset="-120"/>
              </a:rPr>
              <a:t>BLOOD</a:t>
            </a:r>
            <a:endParaRPr lang="en-US" sz="6400" dirty="0"/>
          </a:p>
        </p:txBody>
      </p:sp>
      <p:sp>
        <p:nvSpPr>
          <p:cNvPr id="6" name="Text 4"/>
          <p:cNvSpPr/>
          <p:nvPr/>
        </p:nvSpPr>
        <p:spPr>
          <a:xfrm>
            <a:off x="594360" y="1645920"/>
            <a:ext cx="5486400" cy="914400"/>
          </a:xfrm>
          <a:prstGeom prst="rect">
            <a:avLst/>
          </a:prstGeom>
          <a:noFill/>
          <a:ln/>
        </p:spPr>
        <p:txBody>
          <a:bodyPr wrap="square" lIns="0" tIns="0" rIns="0" bIns="0" rtlCol="0" anchor="ctr"/>
          <a:lstStyle/>
          <a:p>
            <a:pPr indent="0" marL="0">
              <a:buNone/>
            </a:pPr>
            <a:r>
              <a:rPr lang="en-US" sz="6400" b="1" dirty="0">
                <a:solidFill>
                  <a:srgbClr val="C0152B"/>
                </a:solidFill>
                <a:latin typeface="Arial Black" pitchFamily="34" charset="0"/>
                <a:ea typeface="Arial Black" pitchFamily="34" charset="-122"/>
                <a:cs typeface="Arial Black" pitchFamily="34" charset="-120"/>
              </a:rPr>
              <a:t>MIND</a:t>
            </a:r>
            <a:endParaRPr lang="en-US" sz="6400" dirty="0"/>
          </a:p>
        </p:txBody>
      </p:sp>
      <p:sp>
        <p:nvSpPr>
          <p:cNvPr id="7" name="Text 5"/>
          <p:cNvSpPr/>
          <p:nvPr/>
        </p:nvSpPr>
        <p:spPr>
          <a:xfrm>
            <a:off x="594360" y="2633472"/>
            <a:ext cx="7132320" cy="365760"/>
          </a:xfrm>
          <a:prstGeom prst="rect">
            <a:avLst/>
          </a:prstGeom>
          <a:noFill/>
          <a:ln/>
        </p:spPr>
        <p:txBody>
          <a:bodyPr wrap="square" lIns="0" tIns="0" rIns="0" bIns="0" rtlCol="0" anchor="ctr"/>
          <a:lstStyle/>
          <a:p>
            <a:pPr indent="0" marL="0">
              <a:buNone/>
            </a:pPr>
            <a:r>
              <a:rPr lang="en-US" sz="1400" dirty="0">
                <a:solidFill>
                  <a:srgbClr val="AAAAAA"/>
                </a:solidFill>
                <a:latin typeface="Calibri" pitchFamily="34" charset="0"/>
                <a:ea typeface="Calibri" pitchFamily="34" charset="-122"/>
                <a:cs typeface="Calibri" pitchFamily="34" charset="-120"/>
              </a:rPr>
              <a:t>Sentient Autonomous Blood Coordination Network for Thalassemia Patients</a:t>
            </a:r>
            <a:endParaRPr lang="en-US" sz="1400" dirty="0"/>
          </a:p>
        </p:txBody>
      </p:sp>
      <p:sp>
        <p:nvSpPr>
          <p:cNvPr id="8" name="Shape 6"/>
          <p:cNvSpPr/>
          <p:nvPr/>
        </p:nvSpPr>
        <p:spPr>
          <a:xfrm>
            <a:off x="594360" y="3154680"/>
            <a:ext cx="1920240" cy="868680"/>
          </a:xfrm>
          <a:prstGeom prst="rect">
            <a:avLst/>
          </a:prstGeom>
          <a:solidFill>
            <a:srgbClr val="2E2E2E"/>
          </a:solidFill>
          <a:ln/>
        </p:spPr>
      </p:sp>
      <p:sp>
        <p:nvSpPr>
          <p:cNvPr id="9" name="Shape 7"/>
          <p:cNvSpPr/>
          <p:nvPr/>
        </p:nvSpPr>
        <p:spPr>
          <a:xfrm>
            <a:off x="594360" y="3154680"/>
            <a:ext cx="1920240" cy="45720"/>
          </a:xfrm>
          <a:prstGeom prst="rect">
            <a:avLst/>
          </a:prstGeom>
          <a:solidFill>
            <a:srgbClr val="C0152B"/>
          </a:solidFill>
          <a:ln/>
        </p:spPr>
      </p:sp>
      <p:sp>
        <p:nvSpPr>
          <p:cNvPr id="10" name="Text 8"/>
          <p:cNvSpPr/>
          <p:nvPr/>
        </p:nvSpPr>
        <p:spPr>
          <a:xfrm>
            <a:off x="594360" y="3200400"/>
            <a:ext cx="1920240"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15–21</a:t>
            </a:r>
            <a:endParaRPr lang="en-US" sz="2000" dirty="0"/>
          </a:p>
        </p:txBody>
      </p:sp>
      <p:sp>
        <p:nvSpPr>
          <p:cNvPr id="11" name="Text 9"/>
          <p:cNvSpPr/>
          <p:nvPr/>
        </p:nvSpPr>
        <p:spPr>
          <a:xfrm>
            <a:off x="594360" y="3538728"/>
            <a:ext cx="1920240" cy="438912"/>
          </a:xfrm>
          <a:prstGeom prst="rect">
            <a:avLst/>
          </a:prstGeom>
          <a:noFill/>
          <a:ln/>
        </p:spPr>
        <p:txBody>
          <a:bodyPr wrap="square" lIns="0" tIns="0" rIns="0" bIns="0"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Days between transfusions</a:t>
            </a:r>
            <a:endParaRPr lang="en-US" sz="850" dirty="0"/>
          </a:p>
        </p:txBody>
      </p:sp>
      <p:sp>
        <p:nvSpPr>
          <p:cNvPr id="12" name="Shape 10"/>
          <p:cNvSpPr/>
          <p:nvPr/>
        </p:nvSpPr>
        <p:spPr>
          <a:xfrm>
            <a:off x="2697480" y="3154680"/>
            <a:ext cx="1920240" cy="868680"/>
          </a:xfrm>
          <a:prstGeom prst="rect">
            <a:avLst/>
          </a:prstGeom>
          <a:solidFill>
            <a:srgbClr val="2E2E2E"/>
          </a:solidFill>
          <a:ln/>
        </p:spPr>
      </p:sp>
      <p:sp>
        <p:nvSpPr>
          <p:cNvPr id="13" name="Shape 11"/>
          <p:cNvSpPr/>
          <p:nvPr/>
        </p:nvSpPr>
        <p:spPr>
          <a:xfrm>
            <a:off x="2697480" y="3154680"/>
            <a:ext cx="1920240" cy="45720"/>
          </a:xfrm>
          <a:prstGeom prst="rect">
            <a:avLst/>
          </a:prstGeom>
          <a:solidFill>
            <a:srgbClr val="00B4D8"/>
          </a:solidFill>
          <a:ln/>
        </p:spPr>
      </p:sp>
      <p:sp>
        <p:nvSpPr>
          <p:cNvPr id="14" name="Text 12"/>
          <p:cNvSpPr/>
          <p:nvPr/>
        </p:nvSpPr>
        <p:spPr>
          <a:xfrm>
            <a:off x="2697480" y="3200400"/>
            <a:ext cx="1920240"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100s</a:t>
            </a:r>
            <a:endParaRPr lang="en-US" sz="2000" dirty="0"/>
          </a:p>
        </p:txBody>
      </p:sp>
      <p:sp>
        <p:nvSpPr>
          <p:cNvPr id="15" name="Text 13"/>
          <p:cNvSpPr/>
          <p:nvPr/>
        </p:nvSpPr>
        <p:spPr>
          <a:xfrm>
            <a:off x="2697480" y="3538728"/>
            <a:ext cx="1920240" cy="438912"/>
          </a:xfrm>
          <a:prstGeom prst="rect">
            <a:avLst/>
          </a:prstGeom>
          <a:noFill/>
          <a:ln/>
        </p:spPr>
        <p:txBody>
          <a:bodyPr wrap="square" lIns="0" tIns="0" rIns="0" bIns="0"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Patients per NGO coordinator</a:t>
            </a:r>
            <a:endParaRPr lang="en-US" sz="850" dirty="0"/>
          </a:p>
        </p:txBody>
      </p:sp>
      <p:sp>
        <p:nvSpPr>
          <p:cNvPr id="16" name="Shape 14"/>
          <p:cNvSpPr/>
          <p:nvPr/>
        </p:nvSpPr>
        <p:spPr>
          <a:xfrm>
            <a:off x="4800600" y="3154680"/>
            <a:ext cx="1920240" cy="868680"/>
          </a:xfrm>
          <a:prstGeom prst="rect">
            <a:avLst/>
          </a:prstGeom>
          <a:solidFill>
            <a:srgbClr val="2E2E2E"/>
          </a:solidFill>
          <a:ln/>
        </p:spPr>
      </p:sp>
      <p:sp>
        <p:nvSpPr>
          <p:cNvPr id="17" name="Shape 15"/>
          <p:cNvSpPr/>
          <p:nvPr/>
        </p:nvSpPr>
        <p:spPr>
          <a:xfrm>
            <a:off x="4800600" y="3154680"/>
            <a:ext cx="1920240" cy="45720"/>
          </a:xfrm>
          <a:prstGeom prst="rect">
            <a:avLst/>
          </a:prstGeom>
          <a:solidFill>
            <a:srgbClr val="C0152B"/>
          </a:solidFill>
          <a:ln/>
        </p:spPr>
      </p:sp>
      <p:sp>
        <p:nvSpPr>
          <p:cNvPr id="18" name="Text 16"/>
          <p:cNvSpPr/>
          <p:nvPr/>
        </p:nvSpPr>
        <p:spPr>
          <a:xfrm>
            <a:off x="4800600" y="3200400"/>
            <a:ext cx="1920240"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&lt;20%</a:t>
            </a:r>
            <a:endParaRPr lang="en-US" sz="2000" dirty="0"/>
          </a:p>
        </p:txBody>
      </p:sp>
      <p:sp>
        <p:nvSpPr>
          <p:cNvPr id="19" name="Text 17"/>
          <p:cNvSpPr/>
          <p:nvPr/>
        </p:nvSpPr>
        <p:spPr>
          <a:xfrm>
            <a:off x="4800600" y="3538728"/>
            <a:ext cx="1920240" cy="438912"/>
          </a:xfrm>
          <a:prstGeom prst="rect">
            <a:avLst/>
          </a:prstGeom>
          <a:noFill/>
          <a:ln/>
        </p:spPr>
        <p:txBody>
          <a:bodyPr wrap="square" lIns="0" tIns="0" rIns="0" bIns="0"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WhatsApp response rate</a:t>
            </a:r>
            <a:endParaRPr lang="en-US" sz="850" dirty="0"/>
          </a:p>
        </p:txBody>
      </p:sp>
      <p:sp>
        <p:nvSpPr>
          <p:cNvPr id="20" name="Shape 18"/>
          <p:cNvSpPr/>
          <p:nvPr/>
        </p:nvSpPr>
        <p:spPr>
          <a:xfrm>
            <a:off x="6903720" y="3154680"/>
            <a:ext cx="1920240" cy="868680"/>
          </a:xfrm>
          <a:prstGeom prst="rect">
            <a:avLst/>
          </a:prstGeom>
          <a:solidFill>
            <a:srgbClr val="2E2E2E"/>
          </a:solidFill>
          <a:ln/>
        </p:spPr>
      </p:sp>
      <p:sp>
        <p:nvSpPr>
          <p:cNvPr id="21" name="Shape 19"/>
          <p:cNvSpPr/>
          <p:nvPr/>
        </p:nvSpPr>
        <p:spPr>
          <a:xfrm>
            <a:off x="6903720" y="3154680"/>
            <a:ext cx="1920240" cy="45720"/>
          </a:xfrm>
          <a:prstGeom prst="rect">
            <a:avLst/>
          </a:prstGeom>
          <a:solidFill>
            <a:srgbClr val="00B4D8"/>
          </a:solidFill>
          <a:ln/>
        </p:spPr>
      </p:sp>
      <p:sp>
        <p:nvSpPr>
          <p:cNvPr id="22" name="Text 20"/>
          <p:cNvSpPr/>
          <p:nvPr/>
        </p:nvSpPr>
        <p:spPr>
          <a:xfrm>
            <a:off x="6903720" y="3200400"/>
            <a:ext cx="1920240"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 Days</a:t>
            </a:r>
            <a:endParaRPr lang="en-US" sz="2000" dirty="0"/>
          </a:p>
        </p:txBody>
      </p:sp>
      <p:sp>
        <p:nvSpPr>
          <p:cNvPr id="23" name="Text 21"/>
          <p:cNvSpPr/>
          <p:nvPr/>
        </p:nvSpPr>
        <p:spPr>
          <a:xfrm>
            <a:off x="6903720" y="3538728"/>
            <a:ext cx="1920240" cy="438912"/>
          </a:xfrm>
          <a:prstGeom prst="rect">
            <a:avLst/>
          </a:prstGeom>
          <a:noFill/>
          <a:ln/>
        </p:spPr>
        <p:txBody>
          <a:bodyPr wrap="square" lIns="0" tIns="0" rIns="0" bIns="0"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Max safe delay window</a:t>
            </a:r>
            <a:endParaRPr lang="en-US" sz="850" dirty="0"/>
          </a:p>
        </p:txBody>
      </p:sp>
      <p:sp>
        <p:nvSpPr>
          <p:cNvPr id="24" name="Shape 22"/>
          <p:cNvSpPr/>
          <p:nvPr/>
        </p:nvSpPr>
        <p:spPr>
          <a:xfrm>
            <a:off x="594360" y="4187952"/>
            <a:ext cx="8046720" cy="713232"/>
          </a:xfrm>
          <a:prstGeom prst="roundRect">
            <a:avLst>
              <a:gd name="adj" fmla="val 6410"/>
            </a:avLst>
          </a:prstGeom>
          <a:solidFill>
            <a:srgbClr val="2E2E2E"/>
          </a:solidFill>
          <a:ln/>
        </p:spPr>
      </p:sp>
      <p:sp>
        <p:nvSpPr>
          <p:cNvPr id="25" name="Text 23"/>
          <p:cNvSpPr/>
          <p:nvPr/>
        </p:nvSpPr>
        <p:spPr>
          <a:xfrm>
            <a:off x="594360" y="4187952"/>
            <a:ext cx="8046720" cy="713232"/>
          </a:xfrm>
          <a:prstGeom prst="rect">
            <a:avLst/>
          </a:prstGeom>
          <a:noFill/>
          <a:ln/>
        </p:spPr>
        <p:txBody>
          <a:bodyPr wrap="square" lIns="101600" tIns="101600" rIns="101600" bIns="101600" rtlCol="0" anchor="ctr"/>
          <a:lstStyle/>
          <a:p>
            <a:pPr algn="ctr" indent="0" marL="0">
              <a:buNone/>
            </a:pPr>
            <a:r>
              <a:rPr lang="en-US" sz="1100" dirty="0">
                <a:solidFill>
                  <a:srgbClr val="FAF4F4"/>
                </a:solidFill>
                <a:latin typeface="Calibri" pitchFamily="34" charset="0"/>
                <a:ea typeface="Calibri" pitchFamily="34" charset="-122"/>
                <a:cs typeface="Calibri" pitchFamily="34" charset="-120"/>
              </a:rPr>
              <a:t>Core Mission: Transition from manual, reactive, crisis-driven WhatsApp coordination → proactive, autonomous, AI-driven scheduling that predicts needs before they become emergencies.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457200" y="201168"/>
            <a:ext cx="8229600" cy="438912"/>
          </a:xfrm>
          <a:prstGeom prst="rect">
            <a:avLst/>
          </a:prstGeom>
          <a:noFill/>
          <a:ln/>
        </p:spPr>
        <p:txBody>
          <a:bodyPr wrap="square" lIns="0" tIns="0" rIns="0" bIns="0" rtlCol="0" anchor="ctr"/>
          <a:lstStyle/>
          <a:p>
            <a:pPr indent="0" marL="0">
              <a:buNone/>
            </a:pPr>
            <a:r>
              <a:rPr lang="en-US" sz="2800" b="1" dirty="0">
                <a:solidFill>
                  <a:srgbClr val="C0152B"/>
                </a:solidFill>
                <a:latin typeface="Arial Black" pitchFamily="34" charset="0"/>
                <a:ea typeface="Arial Black" pitchFamily="34" charset="-122"/>
                <a:cs typeface="Arial Black" pitchFamily="34" charset="-120"/>
              </a:rPr>
              <a:t>THE CRITICAL PROBLEM</a:t>
            </a:r>
            <a:endParaRPr lang="en-US" sz="2800" dirty="0"/>
          </a:p>
        </p:txBody>
      </p:sp>
      <p:sp>
        <p:nvSpPr>
          <p:cNvPr id="3" name="Text 1"/>
          <p:cNvSpPr/>
          <p:nvPr/>
        </p:nvSpPr>
        <p:spPr>
          <a:xfrm>
            <a:off x="457200" y="621792"/>
            <a:ext cx="8412480" cy="274320"/>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Why the current manual coordination model puts Thalassemia patients at life-threatening risk every single month</a:t>
            </a:r>
            <a:endParaRPr lang="en-US" sz="1150" dirty="0"/>
          </a:p>
        </p:txBody>
      </p:sp>
      <p:sp>
        <p:nvSpPr>
          <p:cNvPr id="4" name="Shape 2"/>
          <p:cNvSpPr/>
          <p:nvPr/>
        </p:nvSpPr>
        <p:spPr>
          <a:xfrm>
            <a:off x="320040" y="1005840"/>
            <a:ext cx="4160520" cy="1874520"/>
          </a:xfrm>
          <a:prstGeom prst="rect">
            <a:avLst/>
          </a:prstGeom>
          <a:solidFill>
            <a:srgbClr val="1A1A1A"/>
          </a:solidFill>
          <a:ln/>
        </p:spPr>
      </p:sp>
      <p:sp>
        <p:nvSpPr>
          <p:cNvPr id="5" name="Shape 3"/>
          <p:cNvSpPr/>
          <p:nvPr/>
        </p:nvSpPr>
        <p:spPr>
          <a:xfrm>
            <a:off x="320040" y="1005840"/>
            <a:ext cx="54864" cy="1874520"/>
          </a:xfrm>
          <a:prstGeom prst="rect">
            <a:avLst/>
          </a:prstGeom>
          <a:solidFill>
            <a:srgbClr val="C0152B"/>
          </a:solidFill>
          <a:ln/>
        </p:spPr>
      </p:sp>
      <p:pic>
        <p:nvPicPr>
          <p:cNvPr id="6" name="Image 0" descr="preencoded.png">    </p:cNvPr>
          <p:cNvPicPr>
            <a:picLocks noChangeAspect="1"/>
          </p:cNvPicPr>
          <p:nvPr/>
        </p:nvPicPr>
        <p:blipFill>
          <a:blip r:embed="rId1"/>
          <a:stretch>
            <a:fillRect/>
          </a:stretch>
        </p:blipFill>
        <p:spPr>
          <a:xfrm>
            <a:off x="484632" y="1133856"/>
            <a:ext cx="384048" cy="384048"/>
          </a:xfrm>
          <a:prstGeom prst="rect">
            <a:avLst/>
          </a:prstGeom>
        </p:spPr>
      </p:pic>
      <p:sp>
        <p:nvSpPr>
          <p:cNvPr id="7" name="Text 4"/>
          <p:cNvSpPr/>
          <p:nvPr/>
        </p:nvSpPr>
        <p:spPr>
          <a:xfrm>
            <a:off x="960120" y="1097280"/>
            <a:ext cx="3383280" cy="4114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Life-Threatening Transfusion Dependency</a:t>
            </a:r>
            <a:endParaRPr lang="en-US" sz="1150" dirty="0"/>
          </a:p>
        </p:txBody>
      </p:sp>
      <p:sp>
        <p:nvSpPr>
          <p:cNvPr id="8" name="Text 5"/>
          <p:cNvSpPr/>
          <p:nvPr/>
        </p:nvSpPr>
        <p:spPr>
          <a:xfrm>
            <a:off x="484632" y="1572768"/>
            <a:ext cx="3886200" cy="12344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Thalassemia Major patients require packed Red Blood Cell (RBC) transfusions every 15–21 days to survive. Without transfusions, hemoglobin levels drop critically. A delay of even 3 days triggers severe clinical anemia, organ stress, and potential hospitalization. There is zero margin for scheduling error — every missed coordination is a medical emergency.</a:t>
            </a:r>
            <a:endParaRPr lang="en-US" sz="950" dirty="0"/>
          </a:p>
        </p:txBody>
      </p:sp>
      <p:sp>
        <p:nvSpPr>
          <p:cNvPr id="9" name="Shape 6"/>
          <p:cNvSpPr/>
          <p:nvPr/>
        </p:nvSpPr>
        <p:spPr>
          <a:xfrm>
            <a:off x="4754880" y="1005840"/>
            <a:ext cx="4160520" cy="1874520"/>
          </a:xfrm>
          <a:prstGeom prst="rect">
            <a:avLst/>
          </a:prstGeom>
          <a:solidFill>
            <a:srgbClr val="1A1A1A"/>
          </a:solidFill>
          <a:ln/>
        </p:spPr>
      </p:sp>
      <p:sp>
        <p:nvSpPr>
          <p:cNvPr id="10" name="Shape 7"/>
          <p:cNvSpPr/>
          <p:nvPr/>
        </p:nvSpPr>
        <p:spPr>
          <a:xfrm>
            <a:off x="4754880" y="1005840"/>
            <a:ext cx="54864" cy="1874520"/>
          </a:xfrm>
          <a:prstGeom prst="rect">
            <a:avLst/>
          </a:prstGeom>
          <a:solidFill>
            <a:srgbClr val="FFB703"/>
          </a:solidFill>
          <a:ln/>
        </p:spPr>
      </p:sp>
      <p:pic>
        <p:nvPicPr>
          <p:cNvPr id="11" name="Image 1" descr="preencoded.png">    </p:cNvPr>
          <p:cNvPicPr>
            <a:picLocks noChangeAspect="1"/>
          </p:cNvPicPr>
          <p:nvPr/>
        </p:nvPicPr>
        <p:blipFill>
          <a:blip r:embed="rId2"/>
          <a:stretch>
            <a:fillRect/>
          </a:stretch>
        </p:blipFill>
        <p:spPr>
          <a:xfrm>
            <a:off x="4919472" y="1133856"/>
            <a:ext cx="384048" cy="384048"/>
          </a:xfrm>
          <a:prstGeom prst="rect">
            <a:avLst/>
          </a:prstGeom>
        </p:spPr>
      </p:pic>
      <p:sp>
        <p:nvSpPr>
          <p:cNvPr id="12" name="Text 8"/>
          <p:cNvSpPr/>
          <p:nvPr/>
        </p:nvSpPr>
        <p:spPr>
          <a:xfrm>
            <a:off x="5394960" y="1097280"/>
            <a:ext cx="3383280" cy="4114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Manual Coordination Bottleneck</a:t>
            </a:r>
            <a:endParaRPr lang="en-US" sz="1150" dirty="0"/>
          </a:p>
        </p:txBody>
      </p:sp>
      <p:sp>
        <p:nvSpPr>
          <p:cNvPr id="13" name="Text 9"/>
          <p:cNvSpPr/>
          <p:nvPr/>
        </p:nvSpPr>
        <p:spPr>
          <a:xfrm>
            <a:off x="4919472" y="1572768"/>
            <a:ext cx="3886200" cy="12344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NGO coordinators single-handedly manage hundreds of Donor-Patient Bridges — direct relationships between specific patients and their recurring donors. These are tracked on paper lists, WhatsApp chats, and spreadsheets with no automation. A single coordinator may manage 300+ relationships simultaneously, making errors, missed follow-ups, and burnout inevitable.</a:t>
            </a:r>
            <a:endParaRPr lang="en-US" sz="950" dirty="0"/>
          </a:p>
        </p:txBody>
      </p:sp>
      <p:sp>
        <p:nvSpPr>
          <p:cNvPr id="14" name="Shape 10"/>
          <p:cNvSpPr/>
          <p:nvPr/>
        </p:nvSpPr>
        <p:spPr>
          <a:xfrm>
            <a:off x="320040" y="3063240"/>
            <a:ext cx="4160520" cy="1874520"/>
          </a:xfrm>
          <a:prstGeom prst="rect">
            <a:avLst/>
          </a:prstGeom>
          <a:solidFill>
            <a:srgbClr val="1A1A1A"/>
          </a:solidFill>
          <a:ln/>
        </p:spPr>
      </p:sp>
      <p:sp>
        <p:nvSpPr>
          <p:cNvPr id="15" name="Shape 11"/>
          <p:cNvSpPr/>
          <p:nvPr/>
        </p:nvSpPr>
        <p:spPr>
          <a:xfrm>
            <a:off x="320040" y="3063240"/>
            <a:ext cx="54864" cy="1874520"/>
          </a:xfrm>
          <a:prstGeom prst="rect">
            <a:avLst/>
          </a:prstGeom>
          <a:solidFill>
            <a:srgbClr val="FF6B6B"/>
          </a:solidFill>
          <a:ln/>
        </p:spPr>
      </p:sp>
      <p:pic>
        <p:nvPicPr>
          <p:cNvPr id="16" name="Image 2" descr="preencoded.png">    </p:cNvPr>
          <p:cNvPicPr>
            <a:picLocks noChangeAspect="1"/>
          </p:cNvPicPr>
          <p:nvPr/>
        </p:nvPicPr>
        <p:blipFill>
          <a:blip r:embed="rId3"/>
          <a:stretch>
            <a:fillRect/>
          </a:stretch>
        </p:blipFill>
        <p:spPr>
          <a:xfrm>
            <a:off x="484632" y="3191256"/>
            <a:ext cx="384048" cy="384048"/>
          </a:xfrm>
          <a:prstGeom prst="rect">
            <a:avLst/>
          </a:prstGeom>
        </p:spPr>
      </p:pic>
      <p:sp>
        <p:nvSpPr>
          <p:cNvPr id="17" name="Text 12"/>
          <p:cNvSpPr/>
          <p:nvPr/>
        </p:nvSpPr>
        <p:spPr>
          <a:xfrm>
            <a:off x="960120" y="3154680"/>
            <a:ext cx="3383280" cy="4114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Donor Fatigue &amp; Duplicate Outreach</a:t>
            </a:r>
            <a:endParaRPr lang="en-US" sz="1150" dirty="0"/>
          </a:p>
        </p:txBody>
      </p:sp>
      <p:sp>
        <p:nvSpPr>
          <p:cNvPr id="18" name="Text 13"/>
          <p:cNvSpPr/>
          <p:nvPr/>
        </p:nvSpPr>
        <p:spPr>
          <a:xfrm>
            <a:off x="484632" y="3630168"/>
            <a:ext cx="3886200" cy="12344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Without intelligent scheduling, the same donors receive repeated random outreach across multiple campaigns. Duplicate contacts, back-to-back asks, and poor timing lead to donor frustration and high decline rates. Popular donors get over-solicited while newer, available donors remain untapped — creating an unbalanced and fragile donor pool.</a:t>
            </a:r>
            <a:endParaRPr lang="en-US" sz="950" dirty="0"/>
          </a:p>
        </p:txBody>
      </p:sp>
      <p:sp>
        <p:nvSpPr>
          <p:cNvPr id="19" name="Shape 14"/>
          <p:cNvSpPr/>
          <p:nvPr/>
        </p:nvSpPr>
        <p:spPr>
          <a:xfrm>
            <a:off x="4754880" y="3063240"/>
            <a:ext cx="4160520" cy="1874520"/>
          </a:xfrm>
          <a:prstGeom prst="rect">
            <a:avLst/>
          </a:prstGeom>
          <a:solidFill>
            <a:srgbClr val="1A1A1A"/>
          </a:solidFill>
          <a:ln/>
        </p:spPr>
      </p:sp>
      <p:sp>
        <p:nvSpPr>
          <p:cNvPr id="20" name="Shape 15"/>
          <p:cNvSpPr/>
          <p:nvPr/>
        </p:nvSpPr>
        <p:spPr>
          <a:xfrm>
            <a:off x="4754880" y="3063240"/>
            <a:ext cx="54864" cy="1874520"/>
          </a:xfrm>
          <a:prstGeom prst="rect">
            <a:avLst/>
          </a:prstGeom>
          <a:solidFill>
            <a:srgbClr val="00B4D8"/>
          </a:solidFill>
          <a:ln/>
        </p:spPr>
      </p:sp>
      <p:pic>
        <p:nvPicPr>
          <p:cNvPr id="21" name="Image 3" descr="preencoded.png">    </p:cNvPr>
          <p:cNvPicPr>
            <a:picLocks noChangeAspect="1"/>
          </p:cNvPicPr>
          <p:nvPr/>
        </p:nvPicPr>
        <p:blipFill>
          <a:blip r:embed="rId4"/>
          <a:stretch>
            <a:fillRect/>
          </a:stretch>
        </p:blipFill>
        <p:spPr>
          <a:xfrm>
            <a:off x="4919472" y="3191256"/>
            <a:ext cx="384048" cy="384048"/>
          </a:xfrm>
          <a:prstGeom prst="rect">
            <a:avLst/>
          </a:prstGeom>
        </p:spPr>
      </p:pic>
      <p:sp>
        <p:nvSpPr>
          <p:cNvPr id="22" name="Text 16"/>
          <p:cNvSpPr/>
          <p:nvPr/>
        </p:nvSpPr>
        <p:spPr>
          <a:xfrm>
            <a:off x="5394960" y="3154680"/>
            <a:ext cx="3383280" cy="41148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Language &amp; Communication Barrier</a:t>
            </a:r>
            <a:endParaRPr lang="en-US" sz="1150" dirty="0"/>
          </a:p>
        </p:txBody>
      </p:sp>
      <p:sp>
        <p:nvSpPr>
          <p:cNvPr id="23" name="Text 17"/>
          <p:cNvSpPr/>
          <p:nvPr/>
        </p:nvSpPr>
        <p:spPr>
          <a:xfrm>
            <a:off x="4919472" y="3630168"/>
            <a:ext cx="3886200" cy="12344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Generic English WhatsApp templates achieve under 20% response rates in Hyderabad and surrounding districts where Telugu and Hindi are the dominant languages. Donors feel disconnected from impersonal, translated messages. Cultural tone, local urgency, and familiarity matter — and a one-size-fits-all English broadcast ignores all of these critical factors.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457200" y="201168"/>
            <a:ext cx="8229600" cy="438912"/>
          </a:xfrm>
          <a:prstGeom prst="rect">
            <a:avLst/>
          </a:prstGeom>
          <a:noFill/>
          <a:ln/>
        </p:spPr>
        <p:txBody>
          <a:bodyPr wrap="square" lIns="0" tIns="0" rIns="0" bIns="0" rtlCol="0" anchor="ctr"/>
          <a:lstStyle/>
          <a:p>
            <a:pPr indent="0" marL="0">
              <a:buNone/>
            </a:pPr>
            <a:r>
              <a:rPr lang="en-US" sz="2800" b="1" dirty="0">
                <a:solidFill>
                  <a:srgbClr val="C0152B"/>
                </a:solidFill>
                <a:latin typeface="Arial Black" pitchFamily="34" charset="0"/>
                <a:ea typeface="Arial Black" pitchFamily="34" charset="-122"/>
                <a:cs typeface="Arial Black" pitchFamily="34" charset="-120"/>
              </a:rPr>
              <a:t>THE PROPOSED SOLUTION</a:t>
            </a:r>
            <a:endParaRPr lang="en-US" sz="2800" dirty="0"/>
          </a:p>
        </p:txBody>
      </p:sp>
      <p:sp>
        <p:nvSpPr>
          <p:cNvPr id="3" name="Text 1"/>
          <p:cNvSpPr/>
          <p:nvPr/>
        </p:nvSpPr>
        <p:spPr>
          <a:xfrm>
            <a:off x="457200" y="621792"/>
            <a:ext cx="8412480" cy="256032"/>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Three intelligent systems working in concert to eliminate coordination failures and save lives autonomously</a:t>
            </a:r>
            <a:endParaRPr lang="en-US" sz="1150" dirty="0"/>
          </a:p>
        </p:txBody>
      </p:sp>
      <p:sp>
        <p:nvSpPr>
          <p:cNvPr id="4" name="Shape 2"/>
          <p:cNvSpPr/>
          <p:nvPr/>
        </p:nvSpPr>
        <p:spPr>
          <a:xfrm>
            <a:off x="274320" y="1005840"/>
            <a:ext cx="2697480" cy="3840480"/>
          </a:xfrm>
          <a:prstGeom prst="rect">
            <a:avLst/>
          </a:prstGeom>
          <a:solidFill>
            <a:srgbClr val="1A1A1A"/>
          </a:solidFill>
          <a:ln/>
        </p:spPr>
      </p:sp>
      <p:sp>
        <p:nvSpPr>
          <p:cNvPr id="5" name="Shape 3"/>
          <p:cNvSpPr/>
          <p:nvPr/>
        </p:nvSpPr>
        <p:spPr>
          <a:xfrm>
            <a:off x="274320" y="1005840"/>
            <a:ext cx="2697480" cy="54864"/>
          </a:xfrm>
          <a:prstGeom prst="rect">
            <a:avLst/>
          </a:prstGeom>
          <a:solidFill>
            <a:srgbClr val="00B4D8"/>
          </a:solidFill>
          <a:ln/>
        </p:spPr>
      </p:sp>
      <p:sp>
        <p:nvSpPr>
          <p:cNvPr id="6" name="Shape 4"/>
          <p:cNvSpPr/>
          <p:nvPr/>
        </p:nvSpPr>
        <p:spPr>
          <a:xfrm>
            <a:off x="384048" y="1170432"/>
            <a:ext cx="457200" cy="457200"/>
          </a:xfrm>
          <a:prstGeom prst="ellipse">
            <a:avLst/>
          </a:prstGeom>
          <a:solidFill>
            <a:srgbClr val="00B4D8"/>
          </a:solidFill>
          <a:ln/>
        </p:spPr>
      </p:sp>
      <p:sp>
        <p:nvSpPr>
          <p:cNvPr id="7" name="Text 5"/>
          <p:cNvSpPr/>
          <p:nvPr/>
        </p:nvSpPr>
        <p:spPr>
          <a:xfrm>
            <a:off x="384048" y="11704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01</a:t>
            </a:r>
            <a:endParaRPr lang="en-US" sz="1200" dirty="0"/>
          </a:p>
        </p:txBody>
      </p:sp>
      <p:pic>
        <p:nvPicPr>
          <p:cNvPr id="8" name="Image 0" descr="preencoded.png">    </p:cNvPr>
          <p:cNvPicPr>
            <a:picLocks noChangeAspect="1"/>
          </p:cNvPicPr>
          <p:nvPr/>
        </p:nvPicPr>
        <p:blipFill>
          <a:blip r:embed="rId1"/>
          <a:stretch>
            <a:fillRect/>
          </a:stretch>
        </p:blipFill>
        <p:spPr>
          <a:xfrm>
            <a:off x="987552" y="1152144"/>
            <a:ext cx="502920" cy="502920"/>
          </a:xfrm>
          <a:prstGeom prst="rect">
            <a:avLst/>
          </a:prstGeom>
        </p:spPr>
      </p:pic>
      <p:sp>
        <p:nvSpPr>
          <p:cNvPr id="9" name="Text 6"/>
          <p:cNvSpPr/>
          <p:nvPr/>
        </p:nvSpPr>
        <p:spPr>
          <a:xfrm>
            <a:off x="384048" y="1755648"/>
            <a:ext cx="2487168"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Predictive Transfusion Forecasting (ML)</a:t>
            </a:r>
            <a:endParaRPr lang="en-US" sz="1150" dirty="0"/>
          </a:p>
        </p:txBody>
      </p:sp>
      <p:sp>
        <p:nvSpPr>
          <p:cNvPr id="10" name="Text 7"/>
          <p:cNvSpPr/>
          <p:nvPr/>
        </p:nvSpPr>
        <p:spPr>
          <a:xfrm>
            <a:off x="384048" y="2359152"/>
            <a:ext cx="2487168" cy="2395728"/>
          </a:xfrm>
          <a:prstGeom prst="rect">
            <a:avLst/>
          </a:prstGeom>
          <a:noFill/>
          <a:ln/>
        </p:spPr>
        <p:txBody>
          <a:bodyPr wrap="square" lIns="0" tIns="0" rIns="0" bIns="0" rtlCol="0" anchor="ctr"/>
          <a:lstStyle/>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Learns each patient's unique transfusion cycle length through historical data</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Automatically stages a donor matching sequence exactly 3 days before the predicted need</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Flags urgency levels (Low / Medium / High) based on clinical history via Amazon Bedrock</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Eliminates last-minute panic outreach by converting reactive emergencies into scheduled events</a:t>
            </a:r>
            <a:endParaRPr lang="en-US" sz="950" dirty="0"/>
          </a:p>
        </p:txBody>
      </p:sp>
      <p:sp>
        <p:nvSpPr>
          <p:cNvPr id="11" name="Shape 8"/>
          <p:cNvSpPr/>
          <p:nvPr/>
        </p:nvSpPr>
        <p:spPr>
          <a:xfrm>
            <a:off x="3172968" y="1005840"/>
            <a:ext cx="2697480" cy="3840480"/>
          </a:xfrm>
          <a:prstGeom prst="rect">
            <a:avLst/>
          </a:prstGeom>
          <a:solidFill>
            <a:srgbClr val="1A1A1A"/>
          </a:solidFill>
          <a:ln/>
        </p:spPr>
      </p:sp>
      <p:sp>
        <p:nvSpPr>
          <p:cNvPr id="12" name="Shape 9"/>
          <p:cNvSpPr/>
          <p:nvPr/>
        </p:nvSpPr>
        <p:spPr>
          <a:xfrm>
            <a:off x="3172968" y="1005840"/>
            <a:ext cx="2697480" cy="54864"/>
          </a:xfrm>
          <a:prstGeom prst="rect">
            <a:avLst/>
          </a:prstGeom>
          <a:solidFill>
            <a:srgbClr val="FFB703"/>
          </a:solidFill>
          <a:ln/>
        </p:spPr>
      </p:sp>
      <p:sp>
        <p:nvSpPr>
          <p:cNvPr id="13" name="Shape 10"/>
          <p:cNvSpPr/>
          <p:nvPr/>
        </p:nvSpPr>
        <p:spPr>
          <a:xfrm>
            <a:off x="3282696" y="1170432"/>
            <a:ext cx="457200" cy="457200"/>
          </a:xfrm>
          <a:prstGeom prst="ellipse">
            <a:avLst/>
          </a:prstGeom>
          <a:solidFill>
            <a:srgbClr val="FFB703"/>
          </a:solidFill>
          <a:ln/>
        </p:spPr>
      </p:sp>
      <p:sp>
        <p:nvSpPr>
          <p:cNvPr id="14" name="Text 11"/>
          <p:cNvSpPr/>
          <p:nvPr/>
        </p:nvSpPr>
        <p:spPr>
          <a:xfrm>
            <a:off x="3282696" y="11704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02</a:t>
            </a:r>
            <a:endParaRPr lang="en-US" sz="1200" dirty="0"/>
          </a:p>
        </p:txBody>
      </p:sp>
      <p:pic>
        <p:nvPicPr>
          <p:cNvPr id="15" name="Image 1" descr="preencoded.png">    </p:cNvPr>
          <p:cNvPicPr>
            <a:picLocks noChangeAspect="1"/>
          </p:cNvPicPr>
          <p:nvPr/>
        </p:nvPicPr>
        <p:blipFill>
          <a:blip r:embed="rId2"/>
          <a:stretch>
            <a:fillRect/>
          </a:stretch>
        </p:blipFill>
        <p:spPr>
          <a:xfrm>
            <a:off x="3886200" y="1152144"/>
            <a:ext cx="502920" cy="502920"/>
          </a:xfrm>
          <a:prstGeom prst="rect">
            <a:avLst/>
          </a:prstGeom>
        </p:spPr>
      </p:pic>
      <p:sp>
        <p:nvSpPr>
          <p:cNvPr id="16" name="Text 12"/>
          <p:cNvSpPr/>
          <p:nvPr/>
        </p:nvSpPr>
        <p:spPr>
          <a:xfrm>
            <a:off x="3282696" y="1755648"/>
            <a:ext cx="2487168"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Multilingual GenAI Outreach (Bedrock)</a:t>
            </a:r>
            <a:endParaRPr lang="en-US" sz="1150" dirty="0"/>
          </a:p>
        </p:txBody>
      </p:sp>
      <p:sp>
        <p:nvSpPr>
          <p:cNvPr id="17" name="Text 13"/>
          <p:cNvSpPr/>
          <p:nvPr/>
        </p:nvSpPr>
        <p:spPr>
          <a:xfrm>
            <a:off x="3282696" y="2359152"/>
            <a:ext cx="2487168" cy="2395728"/>
          </a:xfrm>
          <a:prstGeom prst="rect">
            <a:avLst/>
          </a:prstGeom>
          <a:noFill/>
          <a:ln/>
        </p:spPr>
        <p:txBody>
          <a:bodyPr wrap="square" lIns="0" tIns="0" rIns="0" bIns="0" rtlCol="0" anchor="ctr"/>
          <a:lstStyle/>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Generates fully personalized messages in Telugu, Hindi, or English per donor preference</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Selects optimal delivery channel: WhatsApp, Email, or SMS based on past response patterns</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Uses culturally appropriate tone, urgency signals, and local familiarity to boost engagement</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Achieves 3–4× higher response rates vs generic English templates through personalization</a:t>
            </a:r>
            <a:endParaRPr lang="en-US" sz="950" dirty="0"/>
          </a:p>
        </p:txBody>
      </p:sp>
      <p:sp>
        <p:nvSpPr>
          <p:cNvPr id="18" name="Shape 14"/>
          <p:cNvSpPr/>
          <p:nvPr/>
        </p:nvSpPr>
        <p:spPr>
          <a:xfrm>
            <a:off x="6071616" y="1005840"/>
            <a:ext cx="2697480" cy="3840480"/>
          </a:xfrm>
          <a:prstGeom prst="rect">
            <a:avLst/>
          </a:prstGeom>
          <a:solidFill>
            <a:srgbClr val="1A1A1A"/>
          </a:solidFill>
          <a:ln/>
        </p:spPr>
      </p:sp>
      <p:sp>
        <p:nvSpPr>
          <p:cNvPr id="19" name="Shape 15"/>
          <p:cNvSpPr/>
          <p:nvPr/>
        </p:nvSpPr>
        <p:spPr>
          <a:xfrm>
            <a:off x="6071616" y="1005840"/>
            <a:ext cx="2697480" cy="54864"/>
          </a:xfrm>
          <a:prstGeom prst="rect">
            <a:avLst/>
          </a:prstGeom>
          <a:solidFill>
            <a:srgbClr val="FF6B6B"/>
          </a:solidFill>
          <a:ln/>
        </p:spPr>
      </p:sp>
      <p:sp>
        <p:nvSpPr>
          <p:cNvPr id="20" name="Shape 16"/>
          <p:cNvSpPr/>
          <p:nvPr/>
        </p:nvSpPr>
        <p:spPr>
          <a:xfrm>
            <a:off x="6181344" y="1170432"/>
            <a:ext cx="457200" cy="457200"/>
          </a:xfrm>
          <a:prstGeom prst="ellipse">
            <a:avLst/>
          </a:prstGeom>
          <a:solidFill>
            <a:srgbClr val="FF6B6B"/>
          </a:solidFill>
          <a:ln/>
        </p:spPr>
      </p:sp>
      <p:sp>
        <p:nvSpPr>
          <p:cNvPr id="21" name="Text 17"/>
          <p:cNvSpPr/>
          <p:nvPr/>
        </p:nvSpPr>
        <p:spPr>
          <a:xfrm>
            <a:off x="6181344" y="11704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03</a:t>
            </a:r>
            <a:endParaRPr lang="en-US" sz="1200" dirty="0"/>
          </a:p>
        </p:txBody>
      </p:sp>
      <p:pic>
        <p:nvPicPr>
          <p:cNvPr id="22" name="Image 2" descr="preencoded.png">    </p:cNvPr>
          <p:cNvPicPr>
            <a:picLocks noChangeAspect="1"/>
          </p:cNvPicPr>
          <p:nvPr/>
        </p:nvPicPr>
        <p:blipFill>
          <a:blip r:embed="rId3"/>
          <a:stretch>
            <a:fillRect/>
          </a:stretch>
        </p:blipFill>
        <p:spPr>
          <a:xfrm>
            <a:off x="6784848" y="1152144"/>
            <a:ext cx="502920" cy="502920"/>
          </a:xfrm>
          <a:prstGeom prst="rect">
            <a:avLst/>
          </a:prstGeom>
        </p:spPr>
      </p:pic>
      <p:sp>
        <p:nvSpPr>
          <p:cNvPr id="23" name="Text 18"/>
          <p:cNvSpPr/>
          <p:nvPr/>
        </p:nvSpPr>
        <p:spPr>
          <a:xfrm>
            <a:off x="6181344" y="1755648"/>
            <a:ext cx="2487168"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Conversational NLP Automation</a:t>
            </a:r>
            <a:endParaRPr lang="en-US" sz="1150" dirty="0"/>
          </a:p>
        </p:txBody>
      </p:sp>
      <p:sp>
        <p:nvSpPr>
          <p:cNvPr id="24" name="Text 19"/>
          <p:cNvSpPr/>
          <p:nvPr/>
        </p:nvSpPr>
        <p:spPr>
          <a:xfrm>
            <a:off x="6181344" y="2359152"/>
            <a:ext cx="2487168" cy="2395728"/>
          </a:xfrm>
          <a:prstGeom prst="rect">
            <a:avLst/>
          </a:prstGeom>
          <a:noFill/>
          <a:ln/>
        </p:spPr>
        <p:txBody>
          <a:bodyPr wrap="square" lIns="0" tIns="0" rIns="0" bIns="0" rtlCol="0" anchor="ctr"/>
          <a:lstStyle/>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Parses free-text donor replies natively — 'Nenu available' (Telugu) classified as YES instantly</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Detects intent: CONFIRM / DECLINE / RESCHEDULE without requiring structured input from donor</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Automatically books hospital appointment slots upon confirmation — zero human involvement</a:t>
            </a:r>
            <a:endParaRPr lang="en-US" sz="950" dirty="0"/>
          </a:p>
          <a:p>
            <a:pPr marL="342900" indent="-342900">
              <a:buSzPct val="100000"/>
              <a:buChar char="•"/>
            </a:pPr>
            <a:r>
              <a:rPr lang="en-US" sz="950" dirty="0">
                <a:solidFill>
                  <a:srgbClr val="AAAAAA"/>
                </a:solidFill>
                <a:latin typeface="Calibri" pitchFamily="34" charset="0"/>
                <a:ea typeface="Calibri" pitchFamily="34" charset="-122"/>
                <a:cs typeface="Calibri" pitchFamily="34" charset="-120"/>
              </a:rPr>
              <a:t>Triggers fallback matching if a donor declines, escalating to the next ranked candidate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457200" y="201168"/>
            <a:ext cx="8686800" cy="438912"/>
          </a:xfrm>
          <a:prstGeom prst="rect">
            <a:avLst/>
          </a:prstGeom>
          <a:noFill/>
          <a:ln/>
        </p:spPr>
        <p:txBody>
          <a:bodyPr wrap="square" lIns="0" tIns="0" rIns="0" bIns="0" rtlCol="0" anchor="ctr"/>
          <a:lstStyle/>
          <a:p>
            <a:pPr indent="0" marL="0">
              <a:buNone/>
            </a:pPr>
            <a:r>
              <a:rPr lang="en-US" sz="2600" b="1" dirty="0">
                <a:solidFill>
                  <a:srgbClr val="C0152B"/>
                </a:solidFill>
                <a:latin typeface="Arial Black" pitchFamily="34" charset="0"/>
                <a:ea typeface="Arial Black" pitchFamily="34" charset="-122"/>
                <a:cs typeface="Arial Black" pitchFamily="34" charset="-120"/>
              </a:rPr>
              <a:t>PRODUCTION-READY AWS TECH STACK</a:t>
            </a:r>
            <a:endParaRPr lang="en-US" sz="2600" dirty="0"/>
          </a:p>
        </p:txBody>
      </p:sp>
      <p:sp>
        <p:nvSpPr>
          <p:cNvPr id="3" name="Text 1"/>
          <p:cNvSpPr/>
          <p:nvPr/>
        </p:nvSpPr>
        <p:spPr>
          <a:xfrm>
            <a:off x="457200" y="621792"/>
            <a:ext cx="8686800" cy="256032"/>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5 secure enterprise layers designed for scalability, zero idle cost, and full observability across the entire blood coordination pipeline</a:t>
            </a:r>
            <a:endParaRPr lang="en-US" sz="1150" dirty="0"/>
          </a:p>
        </p:txBody>
      </p:sp>
      <p:sp>
        <p:nvSpPr>
          <p:cNvPr id="4" name="Shape 2"/>
          <p:cNvSpPr/>
          <p:nvPr/>
        </p:nvSpPr>
        <p:spPr>
          <a:xfrm>
            <a:off x="320040" y="969264"/>
            <a:ext cx="8503920" cy="749808"/>
          </a:xfrm>
          <a:prstGeom prst="rect">
            <a:avLst/>
          </a:prstGeom>
          <a:solidFill>
            <a:srgbClr val="1A1A1A"/>
          </a:solidFill>
          <a:ln/>
        </p:spPr>
      </p:sp>
      <p:sp>
        <p:nvSpPr>
          <p:cNvPr id="5" name="Shape 3"/>
          <p:cNvSpPr/>
          <p:nvPr/>
        </p:nvSpPr>
        <p:spPr>
          <a:xfrm>
            <a:off x="320040" y="969264"/>
            <a:ext cx="54864" cy="749808"/>
          </a:xfrm>
          <a:prstGeom prst="rect">
            <a:avLst/>
          </a:prstGeom>
          <a:solidFill>
            <a:srgbClr val="00B4D8"/>
          </a:solidFill>
          <a:ln/>
        </p:spPr>
      </p:sp>
      <p:sp>
        <p:nvSpPr>
          <p:cNvPr id="6" name="Shape 4"/>
          <p:cNvSpPr/>
          <p:nvPr/>
        </p:nvSpPr>
        <p:spPr>
          <a:xfrm>
            <a:off x="438912" y="1097280"/>
            <a:ext cx="475488" cy="475488"/>
          </a:xfrm>
          <a:prstGeom prst="rect">
            <a:avLst/>
          </a:prstGeom>
          <a:solidFill>
            <a:srgbClr val="00B4D8"/>
          </a:solidFill>
          <a:ln/>
        </p:spPr>
      </p:sp>
      <p:sp>
        <p:nvSpPr>
          <p:cNvPr id="7" name="Text 5"/>
          <p:cNvSpPr/>
          <p:nvPr/>
        </p:nvSpPr>
        <p:spPr>
          <a:xfrm>
            <a:off x="438912" y="109728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L1</a:t>
            </a:r>
            <a:endParaRPr lang="en-US" sz="1100" dirty="0"/>
          </a:p>
        </p:txBody>
      </p:sp>
      <p:sp>
        <p:nvSpPr>
          <p:cNvPr id="8" name="Text 6"/>
          <p:cNvSpPr/>
          <p:nvPr/>
        </p:nvSpPr>
        <p:spPr>
          <a:xfrm>
            <a:off x="1005840" y="1024128"/>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Presentation &amp; API Gateway</a:t>
            </a:r>
            <a:endParaRPr lang="en-US" sz="1200" dirty="0"/>
          </a:p>
        </p:txBody>
      </p:sp>
      <p:sp>
        <p:nvSpPr>
          <p:cNvPr id="9" name="Text 7"/>
          <p:cNvSpPr/>
          <p:nvPr/>
        </p:nvSpPr>
        <p:spPr>
          <a:xfrm>
            <a:off x="1005840" y="1289304"/>
            <a:ext cx="7680960" cy="201168"/>
          </a:xfrm>
          <a:prstGeom prst="rect">
            <a:avLst/>
          </a:prstGeom>
          <a:noFill/>
          <a:ln/>
        </p:spPr>
        <p:txBody>
          <a:bodyPr wrap="square" lIns="0" tIns="0" rIns="0" bIns="0" rtlCol="0" anchor="ctr"/>
          <a:lstStyle/>
          <a:p>
            <a:pPr indent="0" marL="0">
              <a:buNone/>
            </a:pPr>
            <a:r>
              <a:rPr lang="en-US" sz="880" dirty="0">
                <a:solidFill>
                  <a:srgbClr val="00B4D8"/>
                </a:solidFill>
                <a:latin typeface="Calibri" pitchFamily="34" charset="0"/>
                <a:ea typeface="Calibri" pitchFamily="34" charset="-122"/>
                <a:cs typeface="Calibri" pitchFamily="34" charset="-120"/>
              </a:rPr>
              <a:t>React (Vite) + FastAPI  •  AWS S3  •  CloudFront CDN  •  ECS Fargate</a:t>
            </a:r>
            <a:endParaRPr lang="en-US" sz="880" dirty="0"/>
          </a:p>
        </p:txBody>
      </p:sp>
      <p:sp>
        <p:nvSpPr>
          <p:cNvPr id="10" name="Text 8"/>
          <p:cNvSpPr/>
          <p:nvPr/>
        </p:nvSpPr>
        <p:spPr>
          <a:xfrm>
            <a:off x="1005840" y="1472184"/>
            <a:ext cx="7680960" cy="201168"/>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The React frontend provides coordinators with a real-time dashboard for campaign status, donor maps, and patient schedules. FastAPI handles all business logic via RESTful endpoints, containerized on ECS Fargate for elastic, serverless scaling. CloudFront CDN ensures sub-50ms global load times.</a:t>
            </a:r>
            <a:endParaRPr lang="en-US" sz="880" dirty="0"/>
          </a:p>
        </p:txBody>
      </p:sp>
      <p:sp>
        <p:nvSpPr>
          <p:cNvPr id="11" name="Shape 9"/>
          <p:cNvSpPr/>
          <p:nvPr/>
        </p:nvSpPr>
        <p:spPr>
          <a:xfrm>
            <a:off x="320040" y="1801368"/>
            <a:ext cx="8503920" cy="749808"/>
          </a:xfrm>
          <a:prstGeom prst="rect">
            <a:avLst/>
          </a:prstGeom>
          <a:solidFill>
            <a:srgbClr val="1A1A1A"/>
          </a:solidFill>
          <a:ln/>
        </p:spPr>
      </p:sp>
      <p:sp>
        <p:nvSpPr>
          <p:cNvPr id="12" name="Shape 10"/>
          <p:cNvSpPr/>
          <p:nvPr/>
        </p:nvSpPr>
        <p:spPr>
          <a:xfrm>
            <a:off x="320040" y="1801368"/>
            <a:ext cx="54864" cy="749808"/>
          </a:xfrm>
          <a:prstGeom prst="rect">
            <a:avLst/>
          </a:prstGeom>
          <a:solidFill>
            <a:srgbClr val="FFB703"/>
          </a:solidFill>
          <a:ln/>
        </p:spPr>
      </p:sp>
      <p:sp>
        <p:nvSpPr>
          <p:cNvPr id="13" name="Shape 11"/>
          <p:cNvSpPr/>
          <p:nvPr/>
        </p:nvSpPr>
        <p:spPr>
          <a:xfrm>
            <a:off x="438912" y="1929384"/>
            <a:ext cx="475488" cy="475488"/>
          </a:xfrm>
          <a:prstGeom prst="rect">
            <a:avLst/>
          </a:prstGeom>
          <a:solidFill>
            <a:srgbClr val="FFB703"/>
          </a:solidFill>
          <a:ln/>
        </p:spPr>
      </p:sp>
      <p:sp>
        <p:nvSpPr>
          <p:cNvPr id="14" name="Text 12"/>
          <p:cNvSpPr/>
          <p:nvPr/>
        </p:nvSpPr>
        <p:spPr>
          <a:xfrm>
            <a:off x="438912" y="192938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L2</a:t>
            </a:r>
            <a:endParaRPr lang="en-US" sz="1100" dirty="0"/>
          </a:p>
        </p:txBody>
      </p:sp>
      <p:sp>
        <p:nvSpPr>
          <p:cNvPr id="15" name="Text 13"/>
          <p:cNvSpPr/>
          <p:nvPr/>
        </p:nvSpPr>
        <p:spPr>
          <a:xfrm>
            <a:off x="1005840" y="1856232"/>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Pipeline &amp; Cache</a:t>
            </a:r>
            <a:endParaRPr lang="en-US" sz="1200" dirty="0"/>
          </a:p>
        </p:txBody>
      </p:sp>
      <p:sp>
        <p:nvSpPr>
          <p:cNvPr id="16" name="Text 14"/>
          <p:cNvSpPr/>
          <p:nvPr/>
        </p:nvSpPr>
        <p:spPr>
          <a:xfrm>
            <a:off x="1005840" y="2121408"/>
            <a:ext cx="7680960" cy="201168"/>
          </a:xfrm>
          <a:prstGeom prst="rect">
            <a:avLst/>
          </a:prstGeom>
          <a:noFill/>
          <a:ln/>
        </p:spPr>
        <p:txBody>
          <a:bodyPr wrap="square" lIns="0" tIns="0" rIns="0" bIns="0" rtlCol="0" anchor="ctr"/>
          <a:lstStyle/>
          <a:p>
            <a:pPr indent="0" marL="0">
              <a:buNone/>
            </a:pPr>
            <a:r>
              <a:rPr lang="en-US" sz="880" dirty="0">
                <a:solidFill>
                  <a:srgbClr val="FFB703"/>
                </a:solidFill>
                <a:latin typeface="Calibri" pitchFamily="34" charset="0"/>
                <a:ea typeface="Calibri" pitchFamily="34" charset="-122"/>
                <a:cs typeface="Calibri" pitchFamily="34" charset="-120"/>
              </a:rPr>
              <a:t>Aurora PostgreSQL  •  Amazon Kinesis Event Streams  •  DynamoDB Active Cache</a:t>
            </a:r>
            <a:endParaRPr lang="en-US" sz="880" dirty="0"/>
          </a:p>
        </p:txBody>
      </p:sp>
      <p:sp>
        <p:nvSpPr>
          <p:cNvPr id="17" name="Text 15"/>
          <p:cNvSpPr/>
          <p:nvPr/>
        </p:nvSpPr>
        <p:spPr>
          <a:xfrm>
            <a:off x="1005840" y="2304288"/>
            <a:ext cx="7680960" cy="201168"/>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Aurora PostgreSQL stores patient records, donor profiles, transfusion history, and campaign logs with ACID compliance. Kinesis ingests real-time telemetry events (OutreachSent, DonorResponded) as they happen. DynamoDB serves as a millisecond-latency active state cache for ongoing campaign data.</a:t>
            </a:r>
            <a:endParaRPr lang="en-US" sz="880" dirty="0"/>
          </a:p>
        </p:txBody>
      </p:sp>
      <p:sp>
        <p:nvSpPr>
          <p:cNvPr id="18" name="Shape 16"/>
          <p:cNvSpPr/>
          <p:nvPr/>
        </p:nvSpPr>
        <p:spPr>
          <a:xfrm>
            <a:off x="320040" y="2633472"/>
            <a:ext cx="8503920" cy="749808"/>
          </a:xfrm>
          <a:prstGeom prst="rect">
            <a:avLst/>
          </a:prstGeom>
          <a:solidFill>
            <a:srgbClr val="1A1A1A"/>
          </a:solidFill>
          <a:ln/>
        </p:spPr>
      </p:sp>
      <p:sp>
        <p:nvSpPr>
          <p:cNvPr id="19" name="Shape 17"/>
          <p:cNvSpPr/>
          <p:nvPr/>
        </p:nvSpPr>
        <p:spPr>
          <a:xfrm>
            <a:off x="320040" y="2633472"/>
            <a:ext cx="54864" cy="749808"/>
          </a:xfrm>
          <a:prstGeom prst="rect">
            <a:avLst/>
          </a:prstGeom>
          <a:solidFill>
            <a:srgbClr val="C0152B"/>
          </a:solidFill>
          <a:ln/>
        </p:spPr>
      </p:sp>
      <p:sp>
        <p:nvSpPr>
          <p:cNvPr id="20" name="Shape 18"/>
          <p:cNvSpPr/>
          <p:nvPr/>
        </p:nvSpPr>
        <p:spPr>
          <a:xfrm>
            <a:off x="438912" y="2761488"/>
            <a:ext cx="475488" cy="475488"/>
          </a:xfrm>
          <a:prstGeom prst="rect">
            <a:avLst/>
          </a:prstGeom>
          <a:solidFill>
            <a:srgbClr val="C0152B"/>
          </a:solidFill>
          <a:ln/>
        </p:spPr>
      </p:sp>
      <p:sp>
        <p:nvSpPr>
          <p:cNvPr id="21" name="Text 19"/>
          <p:cNvSpPr/>
          <p:nvPr/>
        </p:nvSpPr>
        <p:spPr>
          <a:xfrm>
            <a:off x="438912" y="2761488"/>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L3</a:t>
            </a:r>
            <a:endParaRPr lang="en-US" sz="1100" dirty="0"/>
          </a:p>
        </p:txBody>
      </p:sp>
      <p:sp>
        <p:nvSpPr>
          <p:cNvPr id="22" name="Text 20"/>
          <p:cNvSpPr/>
          <p:nvPr/>
        </p:nvSpPr>
        <p:spPr>
          <a:xfrm>
            <a:off x="1005840" y="2688336"/>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 ML Core</a:t>
            </a:r>
            <a:endParaRPr lang="en-US" sz="1200" dirty="0"/>
          </a:p>
        </p:txBody>
      </p:sp>
      <p:sp>
        <p:nvSpPr>
          <p:cNvPr id="23" name="Text 21"/>
          <p:cNvSpPr/>
          <p:nvPr/>
        </p:nvSpPr>
        <p:spPr>
          <a:xfrm>
            <a:off x="1005840" y="2953512"/>
            <a:ext cx="7680960" cy="201168"/>
          </a:xfrm>
          <a:prstGeom prst="rect">
            <a:avLst/>
          </a:prstGeom>
          <a:noFill/>
          <a:ln/>
        </p:spPr>
        <p:txBody>
          <a:bodyPr wrap="square" lIns="0" tIns="0" rIns="0" bIns="0" rtlCol="0" anchor="ctr"/>
          <a:lstStyle/>
          <a:p>
            <a:pPr indent="0" marL="0">
              <a:buNone/>
            </a:pPr>
            <a:r>
              <a:rPr lang="en-US" sz="880" dirty="0">
                <a:solidFill>
                  <a:srgbClr val="C0152B"/>
                </a:solidFill>
                <a:latin typeface="Calibri" pitchFamily="34" charset="0"/>
                <a:ea typeface="Calibri" pitchFamily="34" charset="-122"/>
                <a:cs typeface="Calibri" pitchFamily="34" charset="-120"/>
              </a:rPr>
              <a:t>Amazon Bedrock (Claude 3 Haiku)  •  SageMaker Donor Ranking Models</a:t>
            </a:r>
            <a:endParaRPr lang="en-US" sz="880" dirty="0"/>
          </a:p>
        </p:txBody>
      </p:sp>
      <p:sp>
        <p:nvSpPr>
          <p:cNvPr id="24" name="Text 22"/>
          <p:cNvSpPr/>
          <p:nvPr/>
        </p:nvSpPr>
        <p:spPr>
          <a:xfrm>
            <a:off x="1005840" y="3136392"/>
            <a:ext cx="7680960" cy="201168"/>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Bedrock powers three capabilities: personalized multilingual copywriting, clinical urgency classification, and free-text NLP intent detection. SageMaker hosts the weighted donor ranking model that scores candidates across compatibility, distance, response history, and experience — re-ranked per campaign.</a:t>
            </a:r>
            <a:endParaRPr lang="en-US" sz="880" dirty="0"/>
          </a:p>
        </p:txBody>
      </p:sp>
      <p:sp>
        <p:nvSpPr>
          <p:cNvPr id="25" name="Shape 23"/>
          <p:cNvSpPr/>
          <p:nvPr/>
        </p:nvSpPr>
        <p:spPr>
          <a:xfrm>
            <a:off x="320040" y="3465576"/>
            <a:ext cx="8503920" cy="749808"/>
          </a:xfrm>
          <a:prstGeom prst="rect">
            <a:avLst/>
          </a:prstGeom>
          <a:solidFill>
            <a:srgbClr val="1A1A1A"/>
          </a:solidFill>
          <a:ln/>
        </p:spPr>
      </p:sp>
      <p:sp>
        <p:nvSpPr>
          <p:cNvPr id="26" name="Shape 24"/>
          <p:cNvSpPr/>
          <p:nvPr/>
        </p:nvSpPr>
        <p:spPr>
          <a:xfrm>
            <a:off x="320040" y="3465576"/>
            <a:ext cx="54864" cy="749808"/>
          </a:xfrm>
          <a:prstGeom prst="rect">
            <a:avLst/>
          </a:prstGeom>
          <a:solidFill>
            <a:srgbClr val="FF6B6B"/>
          </a:solidFill>
          <a:ln/>
        </p:spPr>
      </p:sp>
      <p:sp>
        <p:nvSpPr>
          <p:cNvPr id="27" name="Shape 25"/>
          <p:cNvSpPr/>
          <p:nvPr/>
        </p:nvSpPr>
        <p:spPr>
          <a:xfrm>
            <a:off x="438912" y="3593592"/>
            <a:ext cx="475488" cy="475488"/>
          </a:xfrm>
          <a:prstGeom prst="rect">
            <a:avLst/>
          </a:prstGeom>
          <a:solidFill>
            <a:srgbClr val="FF6B6B"/>
          </a:solidFill>
          <a:ln/>
        </p:spPr>
      </p:sp>
      <p:sp>
        <p:nvSpPr>
          <p:cNvPr id="28" name="Text 26"/>
          <p:cNvSpPr/>
          <p:nvPr/>
        </p:nvSpPr>
        <p:spPr>
          <a:xfrm>
            <a:off x="438912" y="359359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L4</a:t>
            </a:r>
            <a:endParaRPr lang="en-US" sz="1100" dirty="0"/>
          </a:p>
        </p:txBody>
      </p:sp>
      <p:sp>
        <p:nvSpPr>
          <p:cNvPr id="29" name="Text 27"/>
          <p:cNvSpPr/>
          <p:nvPr/>
        </p:nvSpPr>
        <p:spPr>
          <a:xfrm>
            <a:off x="1005840" y="3520440"/>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Serverless Orchestration</a:t>
            </a:r>
            <a:endParaRPr lang="en-US" sz="1200" dirty="0"/>
          </a:p>
        </p:txBody>
      </p:sp>
      <p:sp>
        <p:nvSpPr>
          <p:cNvPr id="30" name="Text 28"/>
          <p:cNvSpPr/>
          <p:nvPr/>
        </p:nvSpPr>
        <p:spPr>
          <a:xfrm>
            <a:off x="1005840" y="3785616"/>
            <a:ext cx="7680960" cy="201168"/>
          </a:xfrm>
          <a:prstGeom prst="rect">
            <a:avLst/>
          </a:prstGeom>
          <a:noFill/>
          <a:ln/>
        </p:spPr>
        <p:txBody>
          <a:bodyPr wrap="square" lIns="0" tIns="0" rIns="0" bIns="0" rtlCol="0" anchor="ctr"/>
          <a:lstStyle/>
          <a:p>
            <a:pPr indent="0" marL="0">
              <a:buNone/>
            </a:pPr>
            <a:r>
              <a:rPr lang="en-US" sz="880" dirty="0">
                <a:solidFill>
                  <a:srgbClr val="FF6B6B"/>
                </a:solidFill>
                <a:latin typeface="Calibri" pitchFamily="34" charset="0"/>
                <a:ea typeface="Calibri" pitchFamily="34" charset="-122"/>
                <a:cs typeface="Calibri" pitchFamily="34" charset="-120"/>
              </a:rPr>
              <a:t>AWS Step Functions  •  Lambda Microservices  •  8-Stage Campaign Lifecycle</a:t>
            </a:r>
            <a:endParaRPr lang="en-US" sz="880" dirty="0"/>
          </a:p>
        </p:txBody>
      </p:sp>
      <p:sp>
        <p:nvSpPr>
          <p:cNvPr id="31" name="Text 29"/>
          <p:cNvSpPr/>
          <p:nvPr/>
        </p:nvSpPr>
        <p:spPr>
          <a:xfrm>
            <a:off x="1005840" y="3968496"/>
            <a:ext cx="7680960" cy="201168"/>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Step Functions orchestrates the full 8-stage campaign: Predict → Score → Generate Copy → Send → Monitor → Parse Replies → Book Appointment → Lock Cooldown. Each stage is an independent Lambda. On failure, self-healing protocols auto-trigger fallback workflows without human intervention.</a:t>
            </a:r>
            <a:endParaRPr lang="en-US" sz="880" dirty="0"/>
          </a:p>
        </p:txBody>
      </p:sp>
      <p:sp>
        <p:nvSpPr>
          <p:cNvPr id="32" name="Shape 30"/>
          <p:cNvSpPr/>
          <p:nvPr/>
        </p:nvSpPr>
        <p:spPr>
          <a:xfrm>
            <a:off x="320040" y="4297680"/>
            <a:ext cx="8503920" cy="749808"/>
          </a:xfrm>
          <a:prstGeom prst="rect">
            <a:avLst/>
          </a:prstGeom>
          <a:solidFill>
            <a:srgbClr val="1A1A1A"/>
          </a:solidFill>
          <a:ln/>
        </p:spPr>
      </p:sp>
      <p:sp>
        <p:nvSpPr>
          <p:cNvPr id="33" name="Shape 31"/>
          <p:cNvSpPr/>
          <p:nvPr/>
        </p:nvSpPr>
        <p:spPr>
          <a:xfrm>
            <a:off x="320040" y="4297680"/>
            <a:ext cx="54864" cy="749808"/>
          </a:xfrm>
          <a:prstGeom prst="rect">
            <a:avLst/>
          </a:prstGeom>
          <a:solidFill>
            <a:srgbClr val="8B5CF6"/>
          </a:solidFill>
          <a:ln/>
        </p:spPr>
      </p:sp>
      <p:sp>
        <p:nvSpPr>
          <p:cNvPr id="34" name="Shape 32"/>
          <p:cNvSpPr/>
          <p:nvPr/>
        </p:nvSpPr>
        <p:spPr>
          <a:xfrm>
            <a:off x="438912" y="4425696"/>
            <a:ext cx="475488" cy="475488"/>
          </a:xfrm>
          <a:prstGeom prst="rect">
            <a:avLst/>
          </a:prstGeom>
          <a:solidFill>
            <a:srgbClr val="8B5CF6"/>
          </a:solidFill>
          <a:ln/>
        </p:spPr>
      </p:sp>
      <p:sp>
        <p:nvSpPr>
          <p:cNvPr id="35" name="Text 33"/>
          <p:cNvSpPr/>
          <p:nvPr/>
        </p:nvSpPr>
        <p:spPr>
          <a:xfrm>
            <a:off x="438912" y="4425696"/>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L5</a:t>
            </a:r>
            <a:endParaRPr lang="en-US" sz="1100" dirty="0"/>
          </a:p>
        </p:txBody>
      </p:sp>
      <p:sp>
        <p:nvSpPr>
          <p:cNvPr id="36" name="Text 34"/>
          <p:cNvSpPr/>
          <p:nvPr/>
        </p:nvSpPr>
        <p:spPr>
          <a:xfrm>
            <a:off x="1005840" y="4352544"/>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CI/CD &amp; Monitoring</a:t>
            </a:r>
            <a:endParaRPr lang="en-US" sz="1200" dirty="0"/>
          </a:p>
        </p:txBody>
      </p:sp>
      <p:sp>
        <p:nvSpPr>
          <p:cNvPr id="37" name="Text 35"/>
          <p:cNvSpPr/>
          <p:nvPr/>
        </p:nvSpPr>
        <p:spPr>
          <a:xfrm>
            <a:off x="1005840" y="4617720"/>
            <a:ext cx="7680960" cy="201168"/>
          </a:xfrm>
          <a:prstGeom prst="rect">
            <a:avLst/>
          </a:prstGeom>
          <a:noFill/>
          <a:ln/>
        </p:spPr>
        <p:txBody>
          <a:bodyPr wrap="square" lIns="0" tIns="0" rIns="0" bIns="0" rtlCol="0" anchor="ctr"/>
          <a:lstStyle/>
          <a:p>
            <a:pPr indent="0" marL="0">
              <a:buNone/>
            </a:pPr>
            <a:r>
              <a:rPr lang="en-US" sz="880" dirty="0">
                <a:solidFill>
                  <a:srgbClr val="8B5CF6"/>
                </a:solidFill>
                <a:latin typeface="Calibri" pitchFamily="34" charset="0"/>
                <a:ea typeface="Calibri" pitchFamily="34" charset="-122"/>
                <a:cs typeface="Calibri" pitchFamily="34" charset="-120"/>
              </a:rPr>
              <a:t>AWS CodePipeline  •  ECR Container Registry  •  CloudWatch Observability</a:t>
            </a:r>
            <a:endParaRPr lang="en-US" sz="880" dirty="0"/>
          </a:p>
        </p:txBody>
      </p:sp>
      <p:sp>
        <p:nvSpPr>
          <p:cNvPr id="38" name="Text 36"/>
          <p:cNvSpPr/>
          <p:nvPr/>
        </p:nvSpPr>
        <p:spPr>
          <a:xfrm>
            <a:off x="1005840" y="4800600"/>
            <a:ext cx="7680960" cy="201168"/>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CodePipeline automates build, test, and deploy cycles on every git push. ECR manages versioned container images for the FastAPI service. CloudWatch tracks campaign throughput, Lambda execution times, Bedrock token costs, and donor response SLAs — with automated alarms for anomaly detection.</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457200" y="201168"/>
            <a:ext cx="8229600" cy="438912"/>
          </a:xfrm>
          <a:prstGeom prst="rect">
            <a:avLst/>
          </a:prstGeom>
          <a:noFill/>
          <a:ln/>
        </p:spPr>
        <p:txBody>
          <a:bodyPr wrap="square" lIns="0" tIns="0" rIns="0" bIns="0" rtlCol="0" anchor="ctr"/>
          <a:lstStyle/>
          <a:p>
            <a:pPr indent="0" marL="0">
              <a:buNone/>
            </a:pPr>
            <a:r>
              <a:rPr lang="en-US" sz="2800" b="1" dirty="0">
                <a:solidFill>
                  <a:srgbClr val="C0152B"/>
                </a:solidFill>
                <a:latin typeface="Arial Black" pitchFamily="34" charset="0"/>
                <a:ea typeface="Arial Black" pitchFamily="34" charset="-122"/>
                <a:cs typeface="Arial Black" pitchFamily="34" charset="-120"/>
              </a:rPr>
              <a:t>KEY FEATURES EXPLAINED</a:t>
            </a:r>
            <a:endParaRPr lang="en-US" sz="2800" dirty="0"/>
          </a:p>
        </p:txBody>
      </p:sp>
      <p:sp>
        <p:nvSpPr>
          <p:cNvPr id="3" name="Text 1"/>
          <p:cNvSpPr/>
          <p:nvPr/>
        </p:nvSpPr>
        <p:spPr>
          <a:xfrm>
            <a:off x="457200" y="621792"/>
            <a:ext cx="8412480" cy="256032"/>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Five intelligent subsystems that combine to make BloodMind fully autonomous, self-correcting, and donor-friendly</a:t>
            </a:r>
            <a:endParaRPr lang="en-US" sz="1150" dirty="0"/>
          </a:p>
        </p:txBody>
      </p:sp>
      <p:sp>
        <p:nvSpPr>
          <p:cNvPr id="4" name="Shape 2"/>
          <p:cNvSpPr/>
          <p:nvPr/>
        </p:nvSpPr>
        <p:spPr>
          <a:xfrm>
            <a:off x="274320" y="960120"/>
            <a:ext cx="2697480" cy="1874520"/>
          </a:xfrm>
          <a:prstGeom prst="rect">
            <a:avLst/>
          </a:prstGeom>
          <a:solidFill>
            <a:srgbClr val="1A1A1A"/>
          </a:solidFill>
          <a:ln/>
        </p:spPr>
      </p:sp>
      <p:sp>
        <p:nvSpPr>
          <p:cNvPr id="5" name="Shape 3"/>
          <p:cNvSpPr/>
          <p:nvPr/>
        </p:nvSpPr>
        <p:spPr>
          <a:xfrm>
            <a:off x="274320" y="960120"/>
            <a:ext cx="2697480" cy="45720"/>
          </a:xfrm>
          <a:prstGeom prst="rect">
            <a:avLst/>
          </a:prstGeom>
          <a:solidFill>
            <a:srgbClr val="00B4D8"/>
          </a:solidFill>
          <a:ln/>
        </p:spPr>
      </p:sp>
      <p:pic>
        <p:nvPicPr>
          <p:cNvPr id="6" name="Image 0" descr="preencoded.png">    </p:cNvPr>
          <p:cNvPicPr>
            <a:picLocks noChangeAspect="1"/>
          </p:cNvPicPr>
          <p:nvPr/>
        </p:nvPicPr>
        <p:blipFill>
          <a:blip r:embed="rId1"/>
          <a:stretch>
            <a:fillRect/>
          </a:stretch>
        </p:blipFill>
        <p:spPr>
          <a:xfrm>
            <a:off x="402336" y="1124712"/>
            <a:ext cx="384048" cy="384048"/>
          </a:xfrm>
          <a:prstGeom prst="rect">
            <a:avLst/>
          </a:prstGeom>
        </p:spPr>
      </p:pic>
      <p:sp>
        <p:nvSpPr>
          <p:cNvPr id="7" name="Text 4"/>
          <p:cNvSpPr/>
          <p:nvPr/>
        </p:nvSpPr>
        <p:spPr>
          <a:xfrm>
            <a:off x="868680" y="1106424"/>
            <a:ext cx="2029968"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Transfusion Predictor</a:t>
            </a:r>
            <a:endParaRPr lang="en-US" sz="1100" dirty="0"/>
          </a:p>
        </p:txBody>
      </p:sp>
      <p:sp>
        <p:nvSpPr>
          <p:cNvPr id="8" name="Text 5"/>
          <p:cNvSpPr/>
          <p:nvPr/>
        </p:nvSpPr>
        <p:spPr>
          <a:xfrm>
            <a:off x="384048" y="1581912"/>
            <a:ext cx="2487168" cy="1188720"/>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Analyzes each patient's complete transfusion history to learn their individual cycle length — which varies between 15 and 21 days per patient. The model predicts the next transfusion date with ±1 day accuracy and automatically triggers the full donor matching pipeline 3 days in advance, ensuring donors are confirmed before urgency becomes critical.</a:t>
            </a:r>
            <a:endParaRPr lang="en-US" sz="880" dirty="0"/>
          </a:p>
        </p:txBody>
      </p:sp>
      <p:sp>
        <p:nvSpPr>
          <p:cNvPr id="9" name="Shape 6"/>
          <p:cNvSpPr/>
          <p:nvPr/>
        </p:nvSpPr>
        <p:spPr>
          <a:xfrm>
            <a:off x="3246120" y="960120"/>
            <a:ext cx="2697480" cy="1874520"/>
          </a:xfrm>
          <a:prstGeom prst="rect">
            <a:avLst/>
          </a:prstGeom>
          <a:solidFill>
            <a:srgbClr val="1A1A1A"/>
          </a:solidFill>
          <a:ln/>
        </p:spPr>
      </p:sp>
      <p:sp>
        <p:nvSpPr>
          <p:cNvPr id="10" name="Shape 7"/>
          <p:cNvSpPr/>
          <p:nvPr/>
        </p:nvSpPr>
        <p:spPr>
          <a:xfrm>
            <a:off x="3246120" y="960120"/>
            <a:ext cx="2697480" cy="45720"/>
          </a:xfrm>
          <a:prstGeom prst="rect">
            <a:avLst/>
          </a:prstGeom>
          <a:solidFill>
            <a:srgbClr val="FFB703"/>
          </a:solidFill>
          <a:ln/>
        </p:spPr>
      </p:sp>
      <p:pic>
        <p:nvPicPr>
          <p:cNvPr id="11" name="Image 1" descr="preencoded.png">    </p:cNvPr>
          <p:cNvPicPr>
            <a:picLocks noChangeAspect="1"/>
          </p:cNvPicPr>
          <p:nvPr/>
        </p:nvPicPr>
        <p:blipFill>
          <a:blip r:embed="rId2"/>
          <a:stretch>
            <a:fillRect/>
          </a:stretch>
        </p:blipFill>
        <p:spPr>
          <a:xfrm>
            <a:off x="3374136" y="1124712"/>
            <a:ext cx="384048" cy="384048"/>
          </a:xfrm>
          <a:prstGeom prst="rect">
            <a:avLst/>
          </a:prstGeom>
        </p:spPr>
      </p:pic>
      <p:sp>
        <p:nvSpPr>
          <p:cNvPr id="12" name="Text 8"/>
          <p:cNvSpPr/>
          <p:nvPr/>
        </p:nvSpPr>
        <p:spPr>
          <a:xfrm>
            <a:off x="3840480" y="1106424"/>
            <a:ext cx="2029968"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Weighted Donor Scoring Engine</a:t>
            </a:r>
            <a:endParaRPr lang="en-US" sz="1100" dirty="0"/>
          </a:p>
        </p:txBody>
      </p:sp>
      <p:sp>
        <p:nvSpPr>
          <p:cNvPr id="13" name="Text 9"/>
          <p:cNvSpPr/>
          <p:nvPr/>
        </p:nvSpPr>
        <p:spPr>
          <a:xfrm>
            <a:off x="3355848" y="1581912"/>
            <a:ext cx="2487168" cy="1188720"/>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Each donor is ranked using a multi-factor scoring algorithm: Blood Type Compatibility (40%), Geographic Distance from hospital (30%), Historical Response Rate (20%), and Donation Experience Level (10%). Scores are re-computed fresh per campaign so recent behavior always reflects in rankings. Donors who recently declined score lower temporarily.</a:t>
            </a:r>
            <a:endParaRPr lang="en-US" sz="880" dirty="0"/>
          </a:p>
        </p:txBody>
      </p:sp>
      <p:sp>
        <p:nvSpPr>
          <p:cNvPr id="14" name="Shape 10"/>
          <p:cNvSpPr/>
          <p:nvPr/>
        </p:nvSpPr>
        <p:spPr>
          <a:xfrm>
            <a:off x="6217920" y="960120"/>
            <a:ext cx="2697480" cy="1874520"/>
          </a:xfrm>
          <a:prstGeom prst="rect">
            <a:avLst/>
          </a:prstGeom>
          <a:solidFill>
            <a:srgbClr val="1A1A1A"/>
          </a:solidFill>
          <a:ln/>
        </p:spPr>
      </p:sp>
      <p:sp>
        <p:nvSpPr>
          <p:cNvPr id="15" name="Shape 11"/>
          <p:cNvSpPr/>
          <p:nvPr/>
        </p:nvSpPr>
        <p:spPr>
          <a:xfrm>
            <a:off x="6217920" y="960120"/>
            <a:ext cx="2697480" cy="45720"/>
          </a:xfrm>
          <a:prstGeom prst="rect">
            <a:avLst/>
          </a:prstGeom>
          <a:solidFill>
            <a:srgbClr val="FF6B6B"/>
          </a:solidFill>
          <a:ln/>
        </p:spPr>
      </p:sp>
      <p:pic>
        <p:nvPicPr>
          <p:cNvPr id="16" name="Image 2" descr="preencoded.png">    </p:cNvPr>
          <p:cNvPicPr>
            <a:picLocks noChangeAspect="1"/>
          </p:cNvPicPr>
          <p:nvPr/>
        </p:nvPicPr>
        <p:blipFill>
          <a:blip r:embed="rId3"/>
          <a:stretch>
            <a:fillRect/>
          </a:stretch>
        </p:blipFill>
        <p:spPr>
          <a:xfrm>
            <a:off x="6345936" y="1124712"/>
            <a:ext cx="384048" cy="384048"/>
          </a:xfrm>
          <a:prstGeom prst="rect">
            <a:avLst/>
          </a:prstGeom>
        </p:spPr>
      </p:pic>
      <p:sp>
        <p:nvSpPr>
          <p:cNvPr id="17" name="Text 12"/>
          <p:cNvSpPr/>
          <p:nvPr/>
        </p:nvSpPr>
        <p:spPr>
          <a:xfrm>
            <a:off x="6812280" y="1106424"/>
            <a:ext cx="2029968"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Autonomous NLP Chatbot Agent</a:t>
            </a:r>
            <a:endParaRPr lang="en-US" sz="1100" dirty="0"/>
          </a:p>
        </p:txBody>
      </p:sp>
      <p:sp>
        <p:nvSpPr>
          <p:cNvPr id="18" name="Text 13"/>
          <p:cNvSpPr/>
          <p:nvPr/>
        </p:nvSpPr>
        <p:spPr>
          <a:xfrm>
            <a:off x="6327648" y="1581912"/>
            <a:ext cx="2487168" cy="1188720"/>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Instead of waiting for coordinators to read and process donor replies, the chatbot agent parses every incoming message in real time. It understands colloquial responses in Telugu, Hindi, and English — 'Nenu ready', 'haan bhai', 'sure' — and maps them to structured intents (YES / NO / RESCHEDULE) without translation APIs, triggering the next pipeline stage instantly.</a:t>
            </a:r>
            <a:endParaRPr lang="en-US" sz="880" dirty="0"/>
          </a:p>
        </p:txBody>
      </p:sp>
      <p:sp>
        <p:nvSpPr>
          <p:cNvPr id="19" name="Shape 14"/>
          <p:cNvSpPr/>
          <p:nvPr/>
        </p:nvSpPr>
        <p:spPr>
          <a:xfrm>
            <a:off x="1737360" y="3090672"/>
            <a:ext cx="2697480" cy="1874520"/>
          </a:xfrm>
          <a:prstGeom prst="rect">
            <a:avLst/>
          </a:prstGeom>
          <a:solidFill>
            <a:srgbClr val="1A1A1A"/>
          </a:solidFill>
          <a:ln/>
        </p:spPr>
      </p:sp>
      <p:sp>
        <p:nvSpPr>
          <p:cNvPr id="20" name="Shape 15"/>
          <p:cNvSpPr/>
          <p:nvPr/>
        </p:nvSpPr>
        <p:spPr>
          <a:xfrm>
            <a:off x="1737360" y="3090672"/>
            <a:ext cx="2697480" cy="45720"/>
          </a:xfrm>
          <a:prstGeom prst="rect">
            <a:avLst/>
          </a:prstGeom>
          <a:solidFill>
            <a:srgbClr val="8B5CF6"/>
          </a:solidFill>
          <a:ln/>
        </p:spPr>
      </p:sp>
      <p:pic>
        <p:nvPicPr>
          <p:cNvPr id="21" name="Image 3" descr="preencoded.png">    </p:cNvPr>
          <p:cNvPicPr>
            <a:picLocks noChangeAspect="1"/>
          </p:cNvPicPr>
          <p:nvPr/>
        </p:nvPicPr>
        <p:blipFill>
          <a:blip r:embed="rId4"/>
          <a:stretch>
            <a:fillRect/>
          </a:stretch>
        </p:blipFill>
        <p:spPr>
          <a:xfrm>
            <a:off x="1865376" y="3255264"/>
            <a:ext cx="384048" cy="384048"/>
          </a:xfrm>
          <a:prstGeom prst="rect">
            <a:avLst/>
          </a:prstGeom>
        </p:spPr>
      </p:pic>
      <p:sp>
        <p:nvSpPr>
          <p:cNvPr id="22" name="Text 16"/>
          <p:cNvSpPr/>
          <p:nvPr/>
        </p:nvSpPr>
        <p:spPr>
          <a:xfrm>
            <a:off x="2331720" y="3236976"/>
            <a:ext cx="2029968"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90-Day Cooldown Protection Lock</a:t>
            </a:r>
            <a:endParaRPr lang="en-US" sz="1100" dirty="0"/>
          </a:p>
        </p:txBody>
      </p:sp>
      <p:sp>
        <p:nvSpPr>
          <p:cNvPr id="23" name="Text 17"/>
          <p:cNvSpPr/>
          <p:nvPr/>
        </p:nvSpPr>
        <p:spPr>
          <a:xfrm>
            <a:off x="1847088" y="3712464"/>
            <a:ext cx="2487168" cy="1188720"/>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After each confirmed donation, the donor's profile is automatically locked for a mandatory 90-day cooldown period. During this window, the scoring engine excludes them from all campaigns across all patients. This prevents over-solicitation, protects donor health, maintains trust, and legally aligns with WHO blood donation interval guidelines — fully automated with no coordinator input required.</a:t>
            </a:r>
            <a:endParaRPr lang="en-US" sz="880" dirty="0"/>
          </a:p>
        </p:txBody>
      </p:sp>
      <p:sp>
        <p:nvSpPr>
          <p:cNvPr id="24" name="Shape 18"/>
          <p:cNvSpPr/>
          <p:nvPr/>
        </p:nvSpPr>
        <p:spPr>
          <a:xfrm>
            <a:off x="4709160" y="3090672"/>
            <a:ext cx="2697480" cy="1874520"/>
          </a:xfrm>
          <a:prstGeom prst="rect">
            <a:avLst/>
          </a:prstGeom>
          <a:solidFill>
            <a:srgbClr val="1A1A1A"/>
          </a:solidFill>
          <a:ln/>
        </p:spPr>
      </p:sp>
      <p:sp>
        <p:nvSpPr>
          <p:cNvPr id="25" name="Shape 19"/>
          <p:cNvSpPr/>
          <p:nvPr/>
        </p:nvSpPr>
        <p:spPr>
          <a:xfrm>
            <a:off x="4709160" y="3090672"/>
            <a:ext cx="2697480" cy="45720"/>
          </a:xfrm>
          <a:prstGeom prst="rect">
            <a:avLst/>
          </a:prstGeom>
          <a:solidFill>
            <a:srgbClr val="C0152B"/>
          </a:solidFill>
          <a:ln/>
        </p:spPr>
      </p:sp>
      <p:pic>
        <p:nvPicPr>
          <p:cNvPr id="26" name="Image 4" descr="preencoded.png">    </p:cNvPr>
          <p:cNvPicPr>
            <a:picLocks noChangeAspect="1"/>
          </p:cNvPicPr>
          <p:nvPr/>
        </p:nvPicPr>
        <p:blipFill>
          <a:blip r:embed="rId5"/>
          <a:stretch>
            <a:fillRect/>
          </a:stretch>
        </p:blipFill>
        <p:spPr>
          <a:xfrm>
            <a:off x="4837176" y="3255264"/>
            <a:ext cx="384048" cy="384048"/>
          </a:xfrm>
          <a:prstGeom prst="rect">
            <a:avLst/>
          </a:prstGeom>
        </p:spPr>
      </p:pic>
      <p:sp>
        <p:nvSpPr>
          <p:cNvPr id="27" name="Text 20"/>
          <p:cNvSpPr/>
          <p:nvPr/>
        </p:nvSpPr>
        <p:spPr>
          <a:xfrm>
            <a:off x="5303520" y="3236976"/>
            <a:ext cx="2029968"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Self-Healing Campaign Protocol</a:t>
            </a:r>
            <a:endParaRPr lang="en-US" sz="1100" dirty="0"/>
          </a:p>
        </p:txBody>
      </p:sp>
      <p:sp>
        <p:nvSpPr>
          <p:cNvPr id="28" name="Text 21"/>
          <p:cNvSpPr/>
          <p:nvPr/>
        </p:nvSpPr>
        <p:spPr>
          <a:xfrm>
            <a:off x="4818888" y="3712464"/>
            <a:ext cx="2487168" cy="1188720"/>
          </a:xfrm>
          <a:prstGeom prst="rect">
            <a:avLst/>
          </a:prstGeom>
          <a:noFill/>
          <a:ln/>
        </p:spPr>
        <p:txBody>
          <a:bodyPr wrap="square" lIns="0" tIns="0" rIns="0" bIns="0" rtlCol="0" anchor="ctr"/>
          <a:lstStyle/>
          <a:p>
            <a:pPr indent="0" marL="0">
              <a:buNone/>
            </a:pPr>
            <a:r>
              <a:rPr lang="en-US" sz="880" dirty="0">
                <a:solidFill>
                  <a:srgbClr val="AAAAAA"/>
                </a:solidFill>
                <a:latin typeface="Calibri" pitchFamily="34" charset="0"/>
                <a:ea typeface="Calibri" pitchFamily="34" charset="-122"/>
                <a:cs typeface="Calibri" pitchFamily="34" charset="-120"/>
              </a:rPr>
              <a:t>If a campaign fails to secure a confirmed donor within the set response window, BloodMind doesn't wait for human intervention. It automatically expands matching parameters — widens the geographic radius, increases the candidate batch size, and relaxes secondary scoring filters — then re-launches a new campaign wave. Each recovery attempt is versioned (v1.0 → v1.1 → v1.2) and logged for audit.</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365760" y="164592"/>
            <a:ext cx="8686800" cy="411480"/>
          </a:xfrm>
          <a:prstGeom prst="rect">
            <a:avLst/>
          </a:prstGeom>
          <a:noFill/>
          <a:ln/>
        </p:spPr>
        <p:txBody>
          <a:bodyPr wrap="square" lIns="0" tIns="0" rIns="0" bIns="0" rtlCol="0" anchor="ctr"/>
          <a:lstStyle/>
          <a:p>
            <a:pPr indent="0" marL="0">
              <a:buNone/>
            </a:pPr>
            <a:r>
              <a:rPr lang="en-US" sz="2400" b="1" dirty="0">
                <a:solidFill>
                  <a:srgbClr val="C0152B"/>
                </a:solidFill>
                <a:latin typeface="Arial Black" pitchFamily="34" charset="0"/>
                <a:ea typeface="Arial Black" pitchFamily="34" charset="-122"/>
                <a:cs typeface="Arial Black" pitchFamily="34" charset="-120"/>
              </a:rPr>
              <a:t>SYSTEM ARCHITECTURE &amp; WORKFLOW</a:t>
            </a:r>
            <a:endParaRPr lang="en-US" sz="2400" dirty="0"/>
          </a:p>
        </p:txBody>
      </p:sp>
      <p:sp>
        <p:nvSpPr>
          <p:cNvPr id="3" name="Text 1"/>
          <p:cNvSpPr/>
          <p:nvPr/>
        </p:nvSpPr>
        <p:spPr>
          <a:xfrm>
            <a:off x="365760" y="548640"/>
            <a:ext cx="8686800" cy="237744"/>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8-stage autonomous pipeline — from ML prediction to confirmed hospital appointment, with zero human intervention</a:t>
            </a:r>
            <a:endParaRPr lang="en-US" sz="1050" dirty="0"/>
          </a:p>
        </p:txBody>
      </p:sp>
      <p:sp>
        <p:nvSpPr>
          <p:cNvPr id="4" name="Shape 2"/>
          <p:cNvSpPr/>
          <p:nvPr/>
        </p:nvSpPr>
        <p:spPr>
          <a:xfrm>
            <a:off x="256032" y="877824"/>
            <a:ext cx="3246120" cy="438912"/>
          </a:xfrm>
          <a:prstGeom prst="rect">
            <a:avLst/>
          </a:prstGeom>
          <a:solidFill>
            <a:srgbClr val="2E2E2E"/>
          </a:solidFill>
          <a:ln/>
        </p:spPr>
      </p:sp>
      <p:sp>
        <p:nvSpPr>
          <p:cNvPr id="5" name="Shape 3"/>
          <p:cNvSpPr/>
          <p:nvPr/>
        </p:nvSpPr>
        <p:spPr>
          <a:xfrm>
            <a:off x="256032" y="877824"/>
            <a:ext cx="45720" cy="438912"/>
          </a:xfrm>
          <a:prstGeom prst="rect">
            <a:avLst/>
          </a:prstGeom>
          <a:solidFill>
            <a:srgbClr val="00B4D8"/>
          </a:solidFill>
          <a:ln/>
        </p:spPr>
      </p:sp>
      <p:sp>
        <p:nvSpPr>
          <p:cNvPr id="6" name="Text 4"/>
          <p:cNvSpPr/>
          <p:nvPr/>
        </p:nvSpPr>
        <p:spPr>
          <a:xfrm>
            <a:off x="384048" y="89611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React UI Frontend</a:t>
            </a:r>
            <a:endParaRPr lang="en-US" sz="1000" dirty="0"/>
          </a:p>
        </p:txBody>
      </p:sp>
      <p:sp>
        <p:nvSpPr>
          <p:cNvPr id="7" name="Text 5"/>
          <p:cNvSpPr/>
          <p:nvPr/>
        </p:nvSpPr>
        <p:spPr>
          <a:xfrm>
            <a:off x="384048" y="108813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1: Campaign Initiated</a:t>
            </a:r>
            <a:endParaRPr lang="en-US" sz="850" dirty="0"/>
          </a:p>
        </p:txBody>
      </p:sp>
      <p:sp>
        <p:nvSpPr>
          <p:cNvPr id="8" name="Text 6"/>
          <p:cNvSpPr/>
          <p:nvPr/>
        </p:nvSpPr>
        <p:spPr>
          <a:xfrm>
            <a:off x="822960" y="1316736"/>
            <a:ext cx="365760" cy="91440"/>
          </a:xfrm>
          <a:prstGeom prst="rect">
            <a:avLst/>
          </a:prstGeom>
          <a:noFill/>
          <a:ln/>
        </p:spPr>
        <p:txBody>
          <a:bodyPr wrap="square" lIns="0" tIns="0" rIns="0" bIns="0" rtlCol="0" anchor="ctr"/>
          <a:lstStyle/>
          <a:p>
            <a:pPr algn="ctr" indent="0" marL="0">
              <a:buNone/>
            </a:pPr>
            <a:r>
              <a:rPr lang="en-US" sz="700" dirty="0">
                <a:solidFill>
                  <a:srgbClr val="00B4D8"/>
                </a:solidFill>
              </a:rPr>
              <a:t>▼</a:t>
            </a:r>
            <a:endParaRPr lang="en-US" sz="700" dirty="0"/>
          </a:p>
        </p:txBody>
      </p:sp>
      <p:sp>
        <p:nvSpPr>
          <p:cNvPr id="9" name="Shape 7"/>
          <p:cNvSpPr/>
          <p:nvPr/>
        </p:nvSpPr>
        <p:spPr>
          <a:xfrm>
            <a:off x="256032" y="1403604"/>
            <a:ext cx="3246120" cy="438912"/>
          </a:xfrm>
          <a:prstGeom prst="rect">
            <a:avLst/>
          </a:prstGeom>
          <a:solidFill>
            <a:srgbClr val="2E2E2E"/>
          </a:solidFill>
          <a:ln/>
        </p:spPr>
      </p:sp>
      <p:sp>
        <p:nvSpPr>
          <p:cNvPr id="10" name="Shape 8"/>
          <p:cNvSpPr/>
          <p:nvPr/>
        </p:nvSpPr>
        <p:spPr>
          <a:xfrm>
            <a:off x="256032" y="1403604"/>
            <a:ext cx="45720" cy="438912"/>
          </a:xfrm>
          <a:prstGeom prst="rect">
            <a:avLst/>
          </a:prstGeom>
          <a:solidFill>
            <a:srgbClr val="00B4D8"/>
          </a:solidFill>
          <a:ln/>
        </p:spPr>
      </p:sp>
      <p:sp>
        <p:nvSpPr>
          <p:cNvPr id="11" name="Text 9"/>
          <p:cNvSpPr/>
          <p:nvPr/>
        </p:nvSpPr>
        <p:spPr>
          <a:xfrm>
            <a:off x="384048" y="142189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FastAPI Backend</a:t>
            </a:r>
            <a:endParaRPr lang="en-US" sz="1000" dirty="0"/>
          </a:p>
        </p:txBody>
      </p:sp>
      <p:sp>
        <p:nvSpPr>
          <p:cNvPr id="12" name="Text 10"/>
          <p:cNvSpPr/>
          <p:nvPr/>
        </p:nvSpPr>
        <p:spPr>
          <a:xfrm>
            <a:off x="384048" y="161391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2: Scoring &amp; Validation</a:t>
            </a:r>
            <a:endParaRPr lang="en-US" sz="850" dirty="0"/>
          </a:p>
        </p:txBody>
      </p:sp>
      <p:sp>
        <p:nvSpPr>
          <p:cNvPr id="13" name="Text 11"/>
          <p:cNvSpPr/>
          <p:nvPr/>
        </p:nvSpPr>
        <p:spPr>
          <a:xfrm>
            <a:off x="822960" y="1842516"/>
            <a:ext cx="365760" cy="91440"/>
          </a:xfrm>
          <a:prstGeom prst="rect">
            <a:avLst/>
          </a:prstGeom>
          <a:noFill/>
          <a:ln/>
        </p:spPr>
        <p:txBody>
          <a:bodyPr wrap="square" lIns="0" tIns="0" rIns="0" bIns="0" rtlCol="0" anchor="ctr"/>
          <a:lstStyle/>
          <a:p>
            <a:pPr algn="ctr" indent="0" marL="0">
              <a:buNone/>
            </a:pPr>
            <a:r>
              <a:rPr lang="en-US" sz="700" dirty="0">
                <a:solidFill>
                  <a:srgbClr val="00B4D8"/>
                </a:solidFill>
              </a:rPr>
              <a:t>▼</a:t>
            </a:r>
            <a:endParaRPr lang="en-US" sz="700" dirty="0"/>
          </a:p>
        </p:txBody>
      </p:sp>
      <p:sp>
        <p:nvSpPr>
          <p:cNvPr id="14" name="Shape 12"/>
          <p:cNvSpPr/>
          <p:nvPr/>
        </p:nvSpPr>
        <p:spPr>
          <a:xfrm>
            <a:off x="256032" y="1929384"/>
            <a:ext cx="3246120" cy="438912"/>
          </a:xfrm>
          <a:prstGeom prst="rect">
            <a:avLst/>
          </a:prstGeom>
          <a:solidFill>
            <a:srgbClr val="2E2E2E"/>
          </a:solidFill>
          <a:ln/>
        </p:spPr>
      </p:sp>
      <p:sp>
        <p:nvSpPr>
          <p:cNvPr id="15" name="Shape 13"/>
          <p:cNvSpPr/>
          <p:nvPr/>
        </p:nvSpPr>
        <p:spPr>
          <a:xfrm>
            <a:off x="256032" y="1929384"/>
            <a:ext cx="45720" cy="438912"/>
          </a:xfrm>
          <a:prstGeom prst="rect">
            <a:avLst/>
          </a:prstGeom>
          <a:solidFill>
            <a:srgbClr val="FFB703"/>
          </a:solidFill>
          <a:ln/>
        </p:spPr>
      </p:sp>
      <p:sp>
        <p:nvSpPr>
          <p:cNvPr id="16" name="Text 14"/>
          <p:cNvSpPr/>
          <p:nvPr/>
        </p:nvSpPr>
        <p:spPr>
          <a:xfrm>
            <a:off x="384048" y="194767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SageMaker Matching</a:t>
            </a:r>
            <a:endParaRPr lang="en-US" sz="1000" dirty="0"/>
          </a:p>
        </p:txBody>
      </p:sp>
      <p:sp>
        <p:nvSpPr>
          <p:cNvPr id="17" name="Text 15"/>
          <p:cNvSpPr/>
          <p:nvPr/>
        </p:nvSpPr>
        <p:spPr>
          <a:xfrm>
            <a:off x="384048" y="213969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3: Donor Ranking</a:t>
            </a:r>
            <a:endParaRPr lang="en-US" sz="850" dirty="0"/>
          </a:p>
        </p:txBody>
      </p:sp>
      <p:sp>
        <p:nvSpPr>
          <p:cNvPr id="18" name="Text 16"/>
          <p:cNvSpPr/>
          <p:nvPr/>
        </p:nvSpPr>
        <p:spPr>
          <a:xfrm>
            <a:off x="822960" y="2368296"/>
            <a:ext cx="365760" cy="91440"/>
          </a:xfrm>
          <a:prstGeom prst="rect">
            <a:avLst/>
          </a:prstGeom>
          <a:noFill/>
          <a:ln/>
        </p:spPr>
        <p:txBody>
          <a:bodyPr wrap="square" lIns="0" tIns="0" rIns="0" bIns="0" rtlCol="0" anchor="ctr"/>
          <a:lstStyle/>
          <a:p>
            <a:pPr algn="ctr" indent="0" marL="0">
              <a:buNone/>
            </a:pPr>
            <a:r>
              <a:rPr lang="en-US" sz="700" dirty="0">
                <a:solidFill>
                  <a:srgbClr val="FFB703"/>
                </a:solidFill>
              </a:rPr>
              <a:t>▼</a:t>
            </a:r>
            <a:endParaRPr lang="en-US" sz="700" dirty="0"/>
          </a:p>
        </p:txBody>
      </p:sp>
      <p:sp>
        <p:nvSpPr>
          <p:cNvPr id="19" name="Shape 17"/>
          <p:cNvSpPr/>
          <p:nvPr/>
        </p:nvSpPr>
        <p:spPr>
          <a:xfrm>
            <a:off x="256032" y="2455164"/>
            <a:ext cx="3246120" cy="438912"/>
          </a:xfrm>
          <a:prstGeom prst="rect">
            <a:avLst/>
          </a:prstGeom>
          <a:solidFill>
            <a:srgbClr val="2E2E2E"/>
          </a:solidFill>
          <a:ln/>
        </p:spPr>
      </p:sp>
      <p:sp>
        <p:nvSpPr>
          <p:cNvPr id="20" name="Shape 18"/>
          <p:cNvSpPr/>
          <p:nvPr/>
        </p:nvSpPr>
        <p:spPr>
          <a:xfrm>
            <a:off x="256032" y="2455164"/>
            <a:ext cx="45720" cy="438912"/>
          </a:xfrm>
          <a:prstGeom prst="rect">
            <a:avLst/>
          </a:prstGeom>
          <a:solidFill>
            <a:srgbClr val="C0152B"/>
          </a:solidFill>
          <a:ln/>
        </p:spPr>
      </p:sp>
      <p:sp>
        <p:nvSpPr>
          <p:cNvPr id="21" name="Text 19"/>
          <p:cNvSpPr/>
          <p:nvPr/>
        </p:nvSpPr>
        <p:spPr>
          <a:xfrm>
            <a:off x="384048" y="247345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Amazon Bedrock (Claude 3)</a:t>
            </a:r>
            <a:endParaRPr lang="en-US" sz="1000" dirty="0"/>
          </a:p>
        </p:txBody>
      </p:sp>
      <p:sp>
        <p:nvSpPr>
          <p:cNvPr id="22" name="Text 20"/>
          <p:cNvSpPr/>
          <p:nvPr/>
        </p:nvSpPr>
        <p:spPr>
          <a:xfrm>
            <a:off x="384048" y="266547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4: Copy Generation</a:t>
            </a:r>
            <a:endParaRPr lang="en-US" sz="850" dirty="0"/>
          </a:p>
        </p:txBody>
      </p:sp>
      <p:sp>
        <p:nvSpPr>
          <p:cNvPr id="23" name="Text 21"/>
          <p:cNvSpPr/>
          <p:nvPr/>
        </p:nvSpPr>
        <p:spPr>
          <a:xfrm>
            <a:off x="822960" y="2894076"/>
            <a:ext cx="365760" cy="91440"/>
          </a:xfrm>
          <a:prstGeom prst="rect">
            <a:avLst/>
          </a:prstGeom>
          <a:noFill/>
          <a:ln/>
        </p:spPr>
        <p:txBody>
          <a:bodyPr wrap="square" lIns="0" tIns="0" rIns="0" bIns="0" rtlCol="0" anchor="ctr"/>
          <a:lstStyle/>
          <a:p>
            <a:pPr algn="ctr" indent="0" marL="0">
              <a:buNone/>
            </a:pPr>
            <a:r>
              <a:rPr lang="en-US" sz="700" dirty="0">
                <a:solidFill>
                  <a:srgbClr val="C0152B"/>
                </a:solidFill>
              </a:rPr>
              <a:t>▼</a:t>
            </a:r>
            <a:endParaRPr lang="en-US" sz="700" dirty="0"/>
          </a:p>
        </p:txBody>
      </p:sp>
      <p:sp>
        <p:nvSpPr>
          <p:cNvPr id="24" name="Shape 22"/>
          <p:cNvSpPr/>
          <p:nvPr/>
        </p:nvSpPr>
        <p:spPr>
          <a:xfrm>
            <a:off x="256032" y="2980944"/>
            <a:ext cx="3246120" cy="438912"/>
          </a:xfrm>
          <a:prstGeom prst="rect">
            <a:avLst/>
          </a:prstGeom>
          <a:solidFill>
            <a:srgbClr val="2E2E2E"/>
          </a:solidFill>
          <a:ln/>
        </p:spPr>
      </p:sp>
      <p:sp>
        <p:nvSpPr>
          <p:cNvPr id="25" name="Shape 23"/>
          <p:cNvSpPr/>
          <p:nvPr/>
        </p:nvSpPr>
        <p:spPr>
          <a:xfrm>
            <a:off x="256032" y="2980944"/>
            <a:ext cx="45720" cy="438912"/>
          </a:xfrm>
          <a:prstGeom prst="rect">
            <a:avLst/>
          </a:prstGeom>
          <a:solidFill>
            <a:srgbClr val="FF6B6B"/>
          </a:solidFill>
          <a:ln/>
        </p:spPr>
      </p:sp>
      <p:sp>
        <p:nvSpPr>
          <p:cNvPr id="26" name="Text 24"/>
          <p:cNvSpPr/>
          <p:nvPr/>
        </p:nvSpPr>
        <p:spPr>
          <a:xfrm>
            <a:off x="384048" y="299923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Amazon Kinesis Streams</a:t>
            </a:r>
            <a:endParaRPr lang="en-US" sz="1000" dirty="0"/>
          </a:p>
        </p:txBody>
      </p:sp>
      <p:sp>
        <p:nvSpPr>
          <p:cNvPr id="27" name="Text 25"/>
          <p:cNvSpPr/>
          <p:nvPr/>
        </p:nvSpPr>
        <p:spPr>
          <a:xfrm>
            <a:off x="384048" y="319125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5: Telemetry Logging</a:t>
            </a:r>
            <a:endParaRPr lang="en-US" sz="850" dirty="0"/>
          </a:p>
        </p:txBody>
      </p:sp>
      <p:sp>
        <p:nvSpPr>
          <p:cNvPr id="28" name="Text 26"/>
          <p:cNvSpPr/>
          <p:nvPr/>
        </p:nvSpPr>
        <p:spPr>
          <a:xfrm>
            <a:off x="822960" y="3419856"/>
            <a:ext cx="365760" cy="91440"/>
          </a:xfrm>
          <a:prstGeom prst="rect">
            <a:avLst/>
          </a:prstGeom>
          <a:noFill/>
          <a:ln/>
        </p:spPr>
        <p:txBody>
          <a:bodyPr wrap="square" lIns="0" tIns="0" rIns="0" bIns="0" rtlCol="0" anchor="ctr"/>
          <a:lstStyle/>
          <a:p>
            <a:pPr algn="ctr" indent="0" marL="0">
              <a:buNone/>
            </a:pPr>
            <a:r>
              <a:rPr lang="en-US" sz="700" dirty="0">
                <a:solidFill>
                  <a:srgbClr val="FF6B6B"/>
                </a:solidFill>
              </a:rPr>
              <a:t>▼</a:t>
            </a:r>
            <a:endParaRPr lang="en-US" sz="700" dirty="0"/>
          </a:p>
        </p:txBody>
      </p:sp>
      <p:sp>
        <p:nvSpPr>
          <p:cNvPr id="29" name="Shape 27"/>
          <p:cNvSpPr/>
          <p:nvPr/>
        </p:nvSpPr>
        <p:spPr>
          <a:xfrm>
            <a:off x="256032" y="3506724"/>
            <a:ext cx="3246120" cy="438912"/>
          </a:xfrm>
          <a:prstGeom prst="rect">
            <a:avLst/>
          </a:prstGeom>
          <a:solidFill>
            <a:srgbClr val="2E2E2E"/>
          </a:solidFill>
          <a:ln/>
        </p:spPr>
      </p:sp>
      <p:sp>
        <p:nvSpPr>
          <p:cNvPr id="30" name="Shape 28"/>
          <p:cNvSpPr/>
          <p:nvPr/>
        </p:nvSpPr>
        <p:spPr>
          <a:xfrm>
            <a:off x="256032" y="3506724"/>
            <a:ext cx="45720" cy="438912"/>
          </a:xfrm>
          <a:prstGeom prst="rect">
            <a:avLst/>
          </a:prstGeom>
          <a:solidFill>
            <a:srgbClr val="8B5CF6"/>
          </a:solidFill>
          <a:ln/>
        </p:spPr>
      </p:sp>
      <p:sp>
        <p:nvSpPr>
          <p:cNvPr id="31" name="Text 29"/>
          <p:cNvSpPr/>
          <p:nvPr/>
        </p:nvSpPr>
        <p:spPr>
          <a:xfrm>
            <a:off x="384048" y="352501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Amazon DynamoDB</a:t>
            </a:r>
            <a:endParaRPr lang="en-US" sz="1000" dirty="0"/>
          </a:p>
        </p:txBody>
      </p:sp>
      <p:sp>
        <p:nvSpPr>
          <p:cNvPr id="32" name="Text 30"/>
          <p:cNvSpPr/>
          <p:nvPr/>
        </p:nvSpPr>
        <p:spPr>
          <a:xfrm>
            <a:off x="384048" y="371703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6: Active State Cache</a:t>
            </a:r>
            <a:endParaRPr lang="en-US" sz="850" dirty="0"/>
          </a:p>
        </p:txBody>
      </p:sp>
      <p:sp>
        <p:nvSpPr>
          <p:cNvPr id="33" name="Text 31"/>
          <p:cNvSpPr/>
          <p:nvPr/>
        </p:nvSpPr>
        <p:spPr>
          <a:xfrm>
            <a:off x="822960" y="3945636"/>
            <a:ext cx="365760" cy="91440"/>
          </a:xfrm>
          <a:prstGeom prst="rect">
            <a:avLst/>
          </a:prstGeom>
          <a:noFill/>
          <a:ln/>
        </p:spPr>
        <p:txBody>
          <a:bodyPr wrap="square" lIns="0" tIns="0" rIns="0" bIns="0" rtlCol="0" anchor="ctr"/>
          <a:lstStyle/>
          <a:p>
            <a:pPr algn="ctr" indent="0" marL="0">
              <a:buNone/>
            </a:pPr>
            <a:r>
              <a:rPr lang="en-US" sz="700" dirty="0">
                <a:solidFill>
                  <a:srgbClr val="8B5CF6"/>
                </a:solidFill>
              </a:rPr>
              <a:t>▼</a:t>
            </a:r>
            <a:endParaRPr lang="en-US" sz="700" dirty="0"/>
          </a:p>
        </p:txBody>
      </p:sp>
      <p:sp>
        <p:nvSpPr>
          <p:cNvPr id="34" name="Shape 32"/>
          <p:cNvSpPr/>
          <p:nvPr/>
        </p:nvSpPr>
        <p:spPr>
          <a:xfrm>
            <a:off x="256032" y="4032504"/>
            <a:ext cx="3246120" cy="438912"/>
          </a:xfrm>
          <a:prstGeom prst="rect">
            <a:avLst/>
          </a:prstGeom>
          <a:solidFill>
            <a:srgbClr val="2E2E2E"/>
          </a:solidFill>
          <a:ln/>
        </p:spPr>
      </p:sp>
      <p:sp>
        <p:nvSpPr>
          <p:cNvPr id="35" name="Shape 33"/>
          <p:cNvSpPr/>
          <p:nvPr/>
        </p:nvSpPr>
        <p:spPr>
          <a:xfrm>
            <a:off x="256032" y="4032504"/>
            <a:ext cx="45720" cy="438912"/>
          </a:xfrm>
          <a:prstGeom prst="rect">
            <a:avLst/>
          </a:prstGeom>
          <a:solidFill>
            <a:srgbClr val="FFB703"/>
          </a:solidFill>
          <a:ln/>
        </p:spPr>
      </p:sp>
      <p:sp>
        <p:nvSpPr>
          <p:cNvPr id="36" name="Text 34"/>
          <p:cNvSpPr/>
          <p:nvPr/>
        </p:nvSpPr>
        <p:spPr>
          <a:xfrm>
            <a:off x="384048" y="405079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AWS Step Functions</a:t>
            </a:r>
            <a:endParaRPr lang="en-US" sz="1000" dirty="0"/>
          </a:p>
        </p:txBody>
      </p:sp>
      <p:sp>
        <p:nvSpPr>
          <p:cNvPr id="37" name="Text 35"/>
          <p:cNvSpPr/>
          <p:nvPr/>
        </p:nvSpPr>
        <p:spPr>
          <a:xfrm>
            <a:off x="384048" y="424281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7: Pipeline Orchestration</a:t>
            </a:r>
            <a:endParaRPr lang="en-US" sz="850" dirty="0"/>
          </a:p>
        </p:txBody>
      </p:sp>
      <p:sp>
        <p:nvSpPr>
          <p:cNvPr id="38" name="Text 36"/>
          <p:cNvSpPr/>
          <p:nvPr/>
        </p:nvSpPr>
        <p:spPr>
          <a:xfrm>
            <a:off x="822960" y="4471416"/>
            <a:ext cx="365760" cy="91440"/>
          </a:xfrm>
          <a:prstGeom prst="rect">
            <a:avLst/>
          </a:prstGeom>
          <a:noFill/>
          <a:ln/>
        </p:spPr>
        <p:txBody>
          <a:bodyPr wrap="square" lIns="0" tIns="0" rIns="0" bIns="0" rtlCol="0" anchor="ctr"/>
          <a:lstStyle/>
          <a:p>
            <a:pPr algn="ctr" indent="0" marL="0">
              <a:buNone/>
            </a:pPr>
            <a:r>
              <a:rPr lang="en-US" sz="700" dirty="0">
                <a:solidFill>
                  <a:srgbClr val="FFB703"/>
                </a:solidFill>
              </a:rPr>
              <a:t>▼</a:t>
            </a:r>
            <a:endParaRPr lang="en-US" sz="700" dirty="0"/>
          </a:p>
        </p:txBody>
      </p:sp>
      <p:sp>
        <p:nvSpPr>
          <p:cNvPr id="39" name="Shape 37"/>
          <p:cNvSpPr/>
          <p:nvPr/>
        </p:nvSpPr>
        <p:spPr>
          <a:xfrm>
            <a:off x="256032" y="4558284"/>
            <a:ext cx="3246120" cy="438912"/>
          </a:xfrm>
          <a:prstGeom prst="rect">
            <a:avLst/>
          </a:prstGeom>
          <a:solidFill>
            <a:srgbClr val="2E2E2E"/>
          </a:solidFill>
          <a:ln/>
        </p:spPr>
      </p:sp>
      <p:sp>
        <p:nvSpPr>
          <p:cNvPr id="40" name="Shape 38"/>
          <p:cNvSpPr/>
          <p:nvPr/>
        </p:nvSpPr>
        <p:spPr>
          <a:xfrm>
            <a:off x="256032" y="4558284"/>
            <a:ext cx="45720" cy="438912"/>
          </a:xfrm>
          <a:prstGeom prst="rect">
            <a:avLst/>
          </a:prstGeom>
          <a:solidFill>
            <a:srgbClr val="00B4D8"/>
          </a:solidFill>
          <a:ln/>
        </p:spPr>
      </p:sp>
      <p:sp>
        <p:nvSpPr>
          <p:cNvPr id="41" name="Text 39"/>
          <p:cNvSpPr/>
          <p:nvPr/>
        </p:nvSpPr>
        <p:spPr>
          <a:xfrm>
            <a:off x="384048" y="4576572"/>
            <a:ext cx="301752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Aurora PostgreSQL DB</a:t>
            </a:r>
            <a:endParaRPr lang="en-US" sz="1000" dirty="0"/>
          </a:p>
        </p:txBody>
      </p:sp>
      <p:sp>
        <p:nvSpPr>
          <p:cNvPr id="42" name="Text 40"/>
          <p:cNvSpPr/>
          <p:nvPr/>
        </p:nvSpPr>
        <p:spPr>
          <a:xfrm>
            <a:off x="384048" y="4768596"/>
            <a:ext cx="3017520" cy="182880"/>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Stage 8: Cooldown + Archive</a:t>
            </a:r>
            <a:endParaRPr lang="en-US" sz="850" dirty="0"/>
          </a:p>
        </p:txBody>
      </p:sp>
      <p:sp>
        <p:nvSpPr>
          <p:cNvPr id="43" name="Shape 41"/>
          <p:cNvSpPr/>
          <p:nvPr/>
        </p:nvSpPr>
        <p:spPr>
          <a:xfrm>
            <a:off x="3657600" y="804672"/>
            <a:ext cx="5166360" cy="4224528"/>
          </a:xfrm>
          <a:prstGeom prst="rect">
            <a:avLst/>
          </a:prstGeom>
          <a:solidFill>
            <a:srgbClr val="1A1A1A"/>
          </a:solidFill>
          <a:ln/>
        </p:spPr>
      </p:sp>
      <p:sp>
        <p:nvSpPr>
          <p:cNvPr id="44" name="Shape 42"/>
          <p:cNvSpPr/>
          <p:nvPr/>
        </p:nvSpPr>
        <p:spPr>
          <a:xfrm>
            <a:off x="3657600" y="804672"/>
            <a:ext cx="5166360" cy="54864"/>
          </a:xfrm>
          <a:prstGeom prst="rect">
            <a:avLst/>
          </a:prstGeom>
          <a:solidFill>
            <a:srgbClr val="C0152B"/>
          </a:solidFill>
          <a:ln/>
        </p:spPr>
      </p:sp>
      <p:sp>
        <p:nvSpPr>
          <p:cNvPr id="45" name="Text 43"/>
          <p:cNvSpPr/>
          <p:nvPr/>
        </p:nvSpPr>
        <p:spPr>
          <a:xfrm>
            <a:off x="3767328" y="859536"/>
            <a:ext cx="4956048" cy="310896"/>
          </a:xfrm>
          <a:prstGeom prst="rect">
            <a:avLst/>
          </a:prstGeom>
          <a:noFill/>
          <a:ln/>
        </p:spPr>
        <p:txBody>
          <a:bodyPr wrap="square" lIns="0" tIns="0" rIns="0" bIns="0" rtlCol="0" anchor="ctr"/>
          <a:lstStyle/>
          <a:p>
            <a:pPr indent="0" marL="0">
              <a:buNone/>
            </a:pPr>
            <a:r>
              <a:rPr lang="en-US" sz="1050" b="1" dirty="0">
                <a:solidFill>
                  <a:srgbClr val="C0152B"/>
                </a:solidFill>
                <a:latin typeface="Calibri" pitchFamily="34" charset="0"/>
                <a:ea typeface="Calibri" pitchFamily="34" charset="-122"/>
                <a:cs typeface="Calibri" pitchFamily="34" charset="-120"/>
              </a:rPr>
              <a:t>🩺  END-TO-END WALKTHROUGH  —  Rahul Kumar, 14 yrs, Thalassemia Major</a:t>
            </a:r>
            <a:endParaRPr lang="en-US" sz="1050" dirty="0"/>
          </a:p>
        </p:txBody>
      </p:sp>
      <p:sp>
        <p:nvSpPr>
          <p:cNvPr id="46" name="Shape 44"/>
          <p:cNvSpPr/>
          <p:nvPr/>
        </p:nvSpPr>
        <p:spPr>
          <a:xfrm>
            <a:off x="3794760" y="1261872"/>
            <a:ext cx="329184" cy="329184"/>
          </a:xfrm>
          <a:prstGeom prst="ellipse">
            <a:avLst/>
          </a:prstGeom>
          <a:solidFill>
            <a:srgbClr val="00B4D8"/>
          </a:solidFill>
          <a:ln/>
        </p:spPr>
      </p:sp>
      <p:sp>
        <p:nvSpPr>
          <p:cNvPr id="47" name="Text 45"/>
          <p:cNvSpPr/>
          <p:nvPr/>
        </p:nvSpPr>
        <p:spPr>
          <a:xfrm>
            <a:off x="3794760" y="1261872"/>
            <a:ext cx="329184" cy="329184"/>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48" name="Text 46"/>
          <p:cNvSpPr/>
          <p:nvPr/>
        </p:nvSpPr>
        <p:spPr>
          <a:xfrm>
            <a:off x="4206240" y="1261872"/>
            <a:ext cx="914400" cy="201168"/>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PREDICT</a:t>
            </a:r>
            <a:endParaRPr lang="en-US" sz="900" dirty="0"/>
          </a:p>
        </p:txBody>
      </p:sp>
      <p:sp>
        <p:nvSpPr>
          <p:cNvPr id="49" name="Text 47"/>
          <p:cNvSpPr/>
          <p:nvPr/>
        </p:nvSpPr>
        <p:spPr>
          <a:xfrm>
            <a:off x="4206240" y="1453896"/>
            <a:ext cx="4480560" cy="53035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ML model detects Rahul's next transfusion is due in 3 days (A+ blood). Bedrock reviews clinical history — hemoglobin trend flagged as declining. Urgency: HIGH. Pipeline auto-triggered.</a:t>
            </a:r>
            <a:endParaRPr lang="en-US" sz="850" dirty="0"/>
          </a:p>
        </p:txBody>
      </p:sp>
      <p:sp>
        <p:nvSpPr>
          <p:cNvPr id="50" name="Shape 48"/>
          <p:cNvSpPr/>
          <p:nvPr/>
        </p:nvSpPr>
        <p:spPr>
          <a:xfrm>
            <a:off x="3794760" y="2011680"/>
            <a:ext cx="329184" cy="329184"/>
          </a:xfrm>
          <a:prstGeom prst="ellipse">
            <a:avLst/>
          </a:prstGeom>
          <a:solidFill>
            <a:srgbClr val="FFB703"/>
          </a:solidFill>
          <a:ln/>
        </p:spPr>
      </p:sp>
      <p:sp>
        <p:nvSpPr>
          <p:cNvPr id="51" name="Text 49"/>
          <p:cNvSpPr/>
          <p:nvPr/>
        </p:nvSpPr>
        <p:spPr>
          <a:xfrm>
            <a:off x="3794760" y="2011680"/>
            <a:ext cx="329184" cy="329184"/>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52" name="Text 50"/>
          <p:cNvSpPr/>
          <p:nvPr/>
        </p:nvSpPr>
        <p:spPr>
          <a:xfrm>
            <a:off x="4206240" y="2011680"/>
            <a:ext cx="914400" cy="201168"/>
          </a:xfrm>
          <a:prstGeom prst="rect">
            <a:avLst/>
          </a:prstGeom>
          <a:noFill/>
          <a:ln/>
        </p:spPr>
        <p:txBody>
          <a:bodyPr wrap="square" lIns="0" tIns="0" rIns="0" bIns="0" rtlCol="0" anchor="ctr"/>
          <a:lstStyle/>
          <a:p>
            <a:pPr indent="0" marL="0">
              <a:buNone/>
            </a:pPr>
            <a:r>
              <a:rPr lang="en-US" sz="900" b="1" dirty="0">
                <a:solidFill>
                  <a:srgbClr val="FFB703"/>
                </a:solidFill>
                <a:latin typeface="Calibri" pitchFamily="34" charset="0"/>
                <a:ea typeface="Calibri" pitchFamily="34" charset="-122"/>
                <a:cs typeface="Calibri" pitchFamily="34" charset="-120"/>
              </a:rPr>
              <a:t>MATCH</a:t>
            </a:r>
            <a:endParaRPr lang="en-US" sz="900" dirty="0"/>
          </a:p>
        </p:txBody>
      </p:sp>
      <p:sp>
        <p:nvSpPr>
          <p:cNvPr id="53" name="Text 51"/>
          <p:cNvSpPr/>
          <p:nvPr/>
        </p:nvSpPr>
        <p:spPr>
          <a:xfrm>
            <a:off x="4206240" y="2203704"/>
            <a:ext cx="4480560" cy="53035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Scoring engine evaluates 47 A+ donors in Hyderabad. Akhil Reddy (A+, 4.2 km, 89% response rate, 3 prior donations) ranked #1. Priya &amp; Kiran ranked #2 and #3 as fallbacks.</a:t>
            </a:r>
            <a:endParaRPr lang="en-US" sz="850" dirty="0"/>
          </a:p>
        </p:txBody>
      </p:sp>
      <p:sp>
        <p:nvSpPr>
          <p:cNvPr id="54" name="Shape 52"/>
          <p:cNvSpPr/>
          <p:nvPr/>
        </p:nvSpPr>
        <p:spPr>
          <a:xfrm>
            <a:off x="3794760" y="2761488"/>
            <a:ext cx="329184" cy="329184"/>
          </a:xfrm>
          <a:prstGeom prst="ellipse">
            <a:avLst/>
          </a:prstGeom>
          <a:solidFill>
            <a:srgbClr val="FF6B6B"/>
          </a:solidFill>
          <a:ln/>
        </p:spPr>
      </p:sp>
      <p:sp>
        <p:nvSpPr>
          <p:cNvPr id="55" name="Text 53"/>
          <p:cNvSpPr/>
          <p:nvPr/>
        </p:nvSpPr>
        <p:spPr>
          <a:xfrm>
            <a:off x="3794760" y="2761488"/>
            <a:ext cx="329184" cy="329184"/>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56" name="Text 54"/>
          <p:cNvSpPr/>
          <p:nvPr/>
        </p:nvSpPr>
        <p:spPr>
          <a:xfrm>
            <a:off x="4206240" y="2761488"/>
            <a:ext cx="914400" cy="201168"/>
          </a:xfrm>
          <a:prstGeom prst="rect">
            <a:avLst/>
          </a:prstGeom>
          <a:noFill/>
          <a:ln/>
        </p:spPr>
        <p:txBody>
          <a:bodyPr wrap="square" lIns="0" tIns="0" rIns="0" bIns="0" rtlCol="0" anchor="ctr"/>
          <a:lstStyle/>
          <a:p>
            <a:pPr indent="0" marL="0">
              <a:buNone/>
            </a:pPr>
            <a:r>
              <a:rPr lang="en-US" sz="900" b="1" dirty="0">
                <a:solidFill>
                  <a:srgbClr val="FF6B6B"/>
                </a:solidFill>
                <a:latin typeface="Calibri" pitchFamily="34" charset="0"/>
                <a:ea typeface="Calibri" pitchFamily="34" charset="-122"/>
                <a:cs typeface="Calibri" pitchFamily="34" charset="-120"/>
              </a:rPr>
              <a:t>OUTREACH</a:t>
            </a:r>
            <a:endParaRPr lang="en-US" sz="900" dirty="0"/>
          </a:p>
        </p:txBody>
      </p:sp>
      <p:sp>
        <p:nvSpPr>
          <p:cNvPr id="57" name="Text 55"/>
          <p:cNvSpPr/>
          <p:nvPr/>
        </p:nvSpPr>
        <p:spPr>
          <a:xfrm>
            <a:off x="4206240" y="2953512"/>
            <a:ext cx="4480560" cy="53035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Akhil's preference: Telugu WhatsApp. Bedrock generates: "[Blood Warriors] హాయ్ Akhil! Hyderabad లో Rahul (14 yrs) patient కు A Positive రక్తం కావాలి. మీరు సహాయం చేయగలరా?" Sent 9:14 AM.</a:t>
            </a:r>
            <a:endParaRPr lang="en-US" sz="850" dirty="0"/>
          </a:p>
        </p:txBody>
      </p:sp>
      <p:sp>
        <p:nvSpPr>
          <p:cNvPr id="58" name="Shape 56"/>
          <p:cNvSpPr/>
          <p:nvPr/>
        </p:nvSpPr>
        <p:spPr>
          <a:xfrm>
            <a:off x="3794760" y="3511296"/>
            <a:ext cx="329184" cy="329184"/>
          </a:xfrm>
          <a:prstGeom prst="ellipse">
            <a:avLst/>
          </a:prstGeom>
          <a:solidFill>
            <a:srgbClr val="8B5CF6"/>
          </a:solidFill>
          <a:ln/>
        </p:spPr>
      </p:sp>
      <p:sp>
        <p:nvSpPr>
          <p:cNvPr id="59" name="Text 57"/>
          <p:cNvSpPr/>
          <p:nvPr/>
        </p:nvSpPr>
        <p:spPr>
          <a:xfrm>
            <a:off x="3794760" y="3511296"/>
            <a:ext cx="329184" cy="329184"/>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60" name="Text 58"/>
          <p:cNvSpPr/>
          <p:nvPr/>
        </p:nvSpPr>
        <p:spPr>
          <a:xfrm>
            <a:off x="4206240" y="3511296"/>
            <a:ext cx="914400" cy="201168"/>
          </a:xfrm>
          <a:prstGeom prst="rect">
            <a:avLst/>
          </a:prstGeom>
          <a:noFill/>
          <a:ln/>
        </p:spPr>
        <p:txBody>
          <a:bodyPr wrap="square" lIns="0" tIns="0" rIns="0" bIns="0" rtlCol="0" anchor="ctr"/>
          <a:lstStyle/>
          <a:p>
            <a:pPr indent="0" marL="0">
              <a:buNone/>
            </a:pPr>
            <a:r>
              <a:rPr lang="en-US" sz="900" b="1" dirty="0">
                <a:solidFill>
                  <a:srgbClr val="8B5CF6"/>
                </a:solidFill>
                <a:latin typeface="Calibri" pitchFamily="34" charset="0"/>
                <a:ea typeface="Calibri" pitchFamily="34" charset="-122"/>
                <a:cs typeface="Calibri" pitchFamily="34" charset="-120"/>
              </a:rPr>
              <a:t>RESPOND</a:t>
            </a:r>
            <a:endParaRPr lang="en-US" sz="900" dirty="0"/>
          </a:p>
        </p:txBody>
      </p:sp>
      <p:sp>
        <p:nvSpPr>
          <p:cNvPr id="61" name="Text 59"/>
          <p:cNvSpPr/>
          <p:nvPr/>
        </p:nvSpPr>
        <p:spPr>
          <a:xfrm>
            <a:off x="4206240" y="3703320"/>
            <a:ext cx="4480560" cy="53035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Akhil replies at 9:31 AM: "Nenu available, epudu raavali?" NLP agent classifies intent as YES + QUERY (when). Auto-reply sent with hospital details and time slot options.</a:t>
            </a:r>
            <a:endParaRPr lang="en-US" sz="850" dirty="0"/>
          </a:p>
        </p:txBody>
      </p:sp>
      <p:sp>
        <p:nvSpPr>
          <p:cNvPr id="62" name="Shape 60"/>
          <p:cNvSpPr/>
          <p:nvPr/>
        </p:nvSpPr>
        <p:spPr>
          <a:xfrm>
            <a:off x="3794760" y="4261104"/>
            <a:ext cx="329184" cy="329184"/>
          </a:xfrm>
          <a:prstGeom prst="ellipse">
            <a:avLst/>
          </a:prstGeom>
          <a:solidFill>
            <a:srgbClr val="C0152B"/>
          </a:solidFill>
          <a:ln/>
        </p:spPr>
      </p:sp>
      <p:sp>
        <p:nvSpPr>
          <p:cNvPr id="63" name="Text 61"/>
          <p:cNvSpPr/>
          <p:nvPr/>
        </p:nvSpPr>
        <p:spPr>
          <a:xfrm>
            <a:off x="3794760" y="4261104"/>
            <a:ext cx="329184" cy="329184"/>
          </a:xfrm>
          <a:prstGeom prst="rect">
            <a:avLst/>
          </a:prstGeom>
          <a:noFill/>
          <a:ln/>
        </p:spPr>
        <p:txBody>
          <a:bodyPr wrap="square" lIns="0" tIns="0" rIns="0" bIns="0" rtlCol="0" anchor="ctr"/>
          <a:lstStyle/>
          <a:p>
            <a:pPr algn="ctr" indent="0" marL="0">
              <a:buNone/>
            </a:pPr>
            <a:r>
              <a:rPr lang="en-US" sz="1300" dirty="0">
                <a:solidFill>
                  <a:srgbClr val="000000"/>
                </a:solidFill>
              </a:rPr>
              <a:t>📅</a:t>
            </a:r>
            <a:endParaRPr lang="en-US" sz="1300" dirty="0"/>
          </a:p>
        </p:txBody>
      </p:sp>
      <p:sp>
        <p:nvSpPr>
          <p:cNvPr id="64" name="Text 62"/>
          <p:cNvSpPr/>
          <p:nvPr/>
        </p:nvSpPr>
        <p:spPr>
          <a:xfrm>
            <a:off x="4206240" y="4261104"/>
            <a:ext cx="914400" cy="201168"/>
          </a:xfrm>
          <a:prstGeom prst="rect">
            <a:avLst/>
          </a:prstGeom>
          <a:noFill/>
          <a:ln/>
        </p:spPr>
        <p:txBody>
          <a:bodyPr wrap="square" lIns="0" tIns="0" rIns="0" bIns="0" rtlCol="0" anchor="ctr"/>
          <a:lstStyle/>
          <a:p>
            <a:pPr indent="0" marL="0">
              <a:buNone/>
            </a:pPr>
            <a:r>
              <a:rPr lang="en-US" sz="900" b="1" dirty="0">
                <a:solidFill>
                  <a:srgbClr val="C0152B"/>
                </a:solidFill>
                <a:latin typeface="Calibri" pitchFamily="34" charset="0"/>
                <a:ea typeface="Calibri" pitchFamily="34" charset="-122"/>
                <a:cs typeface="Calibri" pitchFamily="34" charset="-120"/>
              </a:rPr>
              <a:t>CONFIRM</a:t>
            </a:r>
            <a:endParaRPr lang="en-US" sz="900" dirty="0"/>
          </a:p>
        </p:txBody>
      </p:sp>
      <p:sp>
        <p:nvSpPr>
          <p:cNvPr id="65" name="Text 63"/>
          <p:cNvSpPr/>
          <p:nvPr/>
        </p:nvSpPr>
        <p:spPr>
          <a:xfrm>
            <a:off x="4206240" y="4453128"/>
            <a:ext cx="4480560" cy="53035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Akhil confirms 11 AM slot at Apollo Hospital, Jubilee Hills. Appointment booked automatically. Confirmation SMS sent to Akhil + hospital notified. Akhil's profile locked for 90 days.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457200" y="201168"/>
            <a:ext cx="8229600" cy="411480"/>
          </a:xfrm>
          <a:prstGeom prst="rect">
            <a:avLst/>
          </a:prstGeom>
          <a:noFill/>
          <a:ln/>
        </p:spPr>
        <p:txBody>
          <a:bodyPr wrap="square" lIns="0" tIns="0" rIns="0" bIns="0" rtlCol="0" anchor="ctr"/>
          <a:lstStyle/>
          <a:p>
            <a:pPr indent="0" marL="0">
              <a:buNone/>
            </a:pPr>
            <a:r>
              <a:rPr lang="en-US" sz="2400" b="1" dirty="0">
                <a:solidFill>
                  <a:srgbClr val="C0152B"/>
                </a:solidFill>
                <a:latin typeface="Arial Black" pitchFamily="34" charset="0"/>
                <a:ea typeface="Arial Black" pitchFamily="34" charset="-122"/>
                <a:cs typeface="Arial Black" pitchFamily="34" charset="-120"/>
              </a:rPr>
              <a:t>UNIQUENESS &amp; COMPETITIVE ADVANTAGE</a:t>
            </a:r>
            <a:endParaRPr lang="en-US" sz="2400" dirty="0"/>
          </a:p>
        </p:txBody>
      </p:sp>
      <p:sp>
        <p:nvSpPr>
          <p:cNvPr id="3" name="Text 1"/>
          <p:cNvSpPr/>
          <p:nvPr/>
        </p:nvSpPr>
        <p:spPr>
          <a:xfrm>
            <a:off x="457200" y="594360"/>
            <a:ext cx="8412480" cy="256032"/>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What makes BloodMind fundamentally different from existing blood coordination tools and manual workflows</a:t>
            </a:r>
            <a:endParaRPr lang="en-US" sz="1150" dirty="0"/>
          </a:p>
        </p:txBody>
      </p:sp>
      <p:sp>
        <p:nvSpPr>
          <p:cNvPr id="4" name="Shape 2"/>
          <p:cNvSpPr/>
          <p:nvPr/>
        </p:nvSpPr>
        <p:spPr>
          <a:xfrm>
            <a:off x="256032" y="987552"/>
            <a:ext cx="2724912" cy="3931920"/>
          </a:xfrm>
          <a:prstGeom prst="rect">
            <a:avLst/>
          </a:prstGeom>
          <a:solidFill>
            <a:srgbClr val="1A1A1A"/>
          </a:solidFill>
          <a:ln/>
        </p:spPr>
      </p:sp>
      <p:sp>
        <p:nvSpPr>
          <p:cNvPr id="5" name="Shape 3"/>
          <p:cNvSpPr/>
          <p:nvPr/>
        </p:nvSpPr>
        <p:spPr>
          <a:xfrm>
            <a:off x="256032" y="987552"/>
            <a:ext cx="2724912" cy="54864"/>
          </a:xfrm>
          <a:prstGeom prst="rect">
            <a:avLst/>
          </a:prstGeom>
          <a:solidFill>
            <a:srgbClr val="FFB703"/>
          </a:solidFill>
          <a:ln/>
        </p:spPr>
      </p:sp>
      <p:pic>
        <p:nvPicPr>
          <p:cNvPr id="6" name="Image 0" descr="preencoded.png">    </p:cNvPr>
          <p:cNvPicPr>
            <a:picLocks noChangeAspect="1"/>
          </p:cNvPicPr>
          <p:nvPr/>
        </p:nvPicPr>
        <p:blipFill>
          <a:blip r:embed="rId1"/>
          <a:stretch>
            <a:fillRect/>
          </a:stretch>
        </p:blipFill>
        <p:spPr>
          <a:xfrm>
            <a:off x="1280160" y="1188720"/>
            <a:ext cx="658368" cy="658368"/>
          </a:xfrm>
          <a:prstGeom prst="rect">
            <a:avLst/>
          </a:prstGeom>
        </p:spPr>
      </p:pic>
      <p:sp>
        <p:nvSpPr>
          <p:cNvPr id="7" name="Text 4"/>
          <p:cNvSpPr/>
          <p:nvPr/>
        </p:nvSpPr>
        <p:spPr>
          <a:xfrm>
            <a:off x="384048" y="1947672"/>
            <a:ext cx="2468880"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Self-Healing Campaign Engine</a:t>
            </a:r>
            <a:endParaRPr lang="en-US" sz="1250" dirty="0"/>
          </a:p>
        </p:txBody>
      </p:sp>
      <p:sp>
        <p:nvSpPr>
          <p:cNvPr id="8" name="Text 5"/>
          <p:cNvSpPr/>
          <p:nvPr/>
        </p:nvSpPr>
        <p:spPr>
          <a:xfrm>
            <a:off x="384048" y="2450592"/>
            <a:ext cx="2468880" cy="2011680"/>
          </a:xfrm>
          <a:prstGeom prst="rect">
            <a:avLst/>
          </a:prstGeom>
          <a:noFill/>
          <a:ln/>
        </p:spPr>
        <p:txBody>
          <a:bodyPr wrap="square" lIns="0" tIns="0" rIns="0" bIns="0" rtlCol="0" anchor="ctr"/>
          <a:lstStyle/>
          <a:p>
            <a:pPr indent="0" marL="0">
              <a:buNone/>
            </a:pPr>
            <a:r>
              <a:rPr lang="en-US" sz="900" dirty="0">
                <a:solidFill>
                  <a:srgbClr val="AAAAAA"/>
                </a:solidFill>
                <a:latin typeface="Calibri" pitchFamily="34" charset="0"/>
                <a:ea typeface="Calibri" pitchFamily="34" charset="-122"/>
                <a:cs typeface="Calibri" pitchFamily="34" charset="-120"/>
              </a:rPr>
              <a:t>When a campaign fails to secure donor confirmation within the response window, BloodMind doesn't alert a coordinator — it heals itself. The system automatically expands search parameters: widens the geographic radius from 5 km to 15 km, scales candidate batch size from 5 to 20 donors, and relaxes secondary filters. A new campaign wave is generated and launched as version v1.1.0. Each recovery iteration is logged with timestamps, donor pool changes, and outcome metrics for full audit transparency.</a:t>
            </a:r>
            <a:endParaRPr lang="en-US" sz="900" dirty="0"/>
          </a:p>
        </p:txBody>
      </p:sp>
      <p:sp>
        <p:nvSpPr>
          <p:cNvPr id="9" name="Shape 6"/>
          <p:cNvSpPr/>
          <p:nvPr/>
        </p:nvSpPr>
        <p:spPr>
          <a:xfrm>
            <a:off x="384048" y="4507992"/>
            <a:ext cx="2468880" cy="274320"/>
          </a:xfrm>
          <a:prstGeom prst="rect">
            <a:avLst/>
          </a:prstGeom>
          <a:solidFill>
            <a:srgbClr val="FFB703"/>
          </a:solidFill>
          <a:ln/>
        </p:spPr>
      </p:sp>
      <p:sp>
        <p:nvSpPr>
          <p:cNvPr id="10" name="Text 7"/>
          <p:cNvSpPr/>
          <p:nvPr/>
        </p:nvSpPr>
        <p:spPr>
          <a:xfrm>
            <a:off x="384048" y="4507992"/>
            <a:ext cx="24688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Zero Human Intervention on Failure</a:t>
            </a:r>
            <a:endParaRPr lang="en-US" sz="900" dirty="0"/>
          </a:p>
        </p:txBody>
      </p:sp>
      <p:sp>
        <p:nvSpPr>
          <p:cNvPr id="11" name="Shape 8"/>
          <p:cNvSpPr/>
          <p:nvPr/>
        </p:nvSpPr>
        <p:spPr>
          <a:xfrm>
            <a:off x="3200400" y="987552"/>
            <a:ext cx="2724912" cy="3931920"/>
          </a:xfrm>
          <a:prstGeom prst="rect">
            <a:avLst/>
          </a:prstGeom>
          <a:solidFill>
            <a:srgbClr val="1A1A1A"/>
          </a:solidFill>
          <a:ln/>
        </p:spPr>
      </p:sp>
      <p:sp>
        <p:nvSpPr>
          <p:cNvPr id="12" name="Shape 9"/>
          <p:cNvSpPr/>
          <p:nvPr/>
        </p:nvSpPr>
        <p:spPr>
          <a:xfrm>
            <a:off x="3200400" y="987552"/>
            <a:ext cx="2724912" cy="54864"/>
          </a:xfrm>
          <a:prstGeom prst="rect">
            <a:avLst/>
          </a:prstGeom>
          <a:solidFill>
            <a:srgbClr val="00B4D8"/>
          </a:solidFill>
          <a:ln/>
        </p:spPr>
      </p:sp>
      <p:pic>
        <p:nvPicPr>
          <p:cNvPr id="13" name="Image 1" descr="preencoded.png">    </p:cNvPr>
          <p:cNvPicPr>
            <a:picLocks noChangeAspect="1"/>
          </p:cNvPicPr>
          <p:nvPr/>
        </p:nvPicPr>
        <p:blipFill>
          <a:blip r:embed="rId2"/>
          <a:stretch>
            <a:fillRect/>
          </a:stretch>
        </p:blipFill>
        <p:spPr>
          <a:xfrm>
            <a:off x="4224528" y="1188720"/>
            <a:ext cx="658368" cy="658368"/>
          </a:xfrm>
          <a:prstGeom prst="rect">
            <a:avLst/>
          </a:prstGeom>
        </p:spPr>
      </p:pic>
      <p:sp>
        <p:nvSpPr>
          <p:cNvPr id="14" name="Text 10"/>
          <p:cNvSpPr/>
          <p:nvPr/>
        </p:nvSpPr>
        <p:spPr>
          <a:xfrm>
            <a:off x="3328416" y="1947672"/>
            <a:ext cx="2468880"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Zero-Translation Lag NLP</a:t>
            </a:r>
            <a:endParaRPr lang="en-US" sz="1250" dirty="0"/>
          </a:p>
        </p:txBody>
      </p:sp>
      <p:sp>
        <p:nvSpPr>
          <p:cNvPr id="15" name="Text 11"/>
          <p:cNvSpPr/>
          <p:nvPr/>
        </p:nvSpPr>
        <p:spPr>
          <a:xfrm>
            <a:off x="3328416" y="2450592"/>
            <a:ext cx="2468880" cy="2011680"/>
          </a:xfrm>
          <a:prstGeom prst="rect">
            <a:avLst/>
          </a:prstGeom>
          <a:noFill/>
          <a:ln/>
        </p:spPr>
        <p:txBody>
          <a:bodyPr wrap="square" lIns="0" tIns="0" rIns="0" bIns="0" rtlCol="0" anchor="ctr"/>
          <a:lstStyle/>
          <a:p>
            <a:pPr indent="0" marL="0">
              <a:buNone/>
            </a:pPr>
            <a:r>
              <a:rPr lang="en-US" sz="900" dirty="0">
                <a:solidFill>
                  <a:srgbClr val="AAAAAA"/>
                </a:solidFill>
                <a:latin typeface="Calibri" pitchFamily="34" charset="0"/>
                <a:ea typeface="Calibri" pitchFamily="34" charset="-122"/>
                <a:cs typeface="Calibri" pitchFamily="34" charset="-120"/>
              </a:rPr>
              <a:t>Most blood coordination tools either work only in English or route messages through expensive translation APIs before parsing. BloodMind's Bedrock-powered NLP processes Telugu and Hindi donor replies natively in a single inference call. There are no intermediate translation steps, no added API latency, and no additional per-token cost from a translation layer. This reduces response classification time from 3–5 seconds to under 800ms — critical when campaign windows are tight.</a:t>
            </a:r>
            <a:endParaRPr lang="en-US" sz="900" dirty="0"/>
          </a:p>
        </p:txBody>
      </p:sp>
      <p:sp>
        <p:nvSpPr>
          <p:cNvPr id="16" name="Shape 12"/>
          <p:cNvSpPr/>
          <p:nvPr/>
        </p:nvSpPr>
        <p:spPr>
          <a:xfrm>
            <a:off x="3328416" y="4507992"/>
            <a:ext cx="2468880" cy="274320"/>
          </a:xfrm>
          <a:prstGeom prst="rect">
            <a:avLst/>
          </a:prstGeom>
          <a:solidFill>
            <a:srgbClr val="00B4D8"/>
          </a:solidFill>
          <a:ln/>
        </p:spPr>
      </p:sp>
      <p:sp>
        <p:nvSpPr>
          <p:cNvPr id="17" name="Text 13"/>
          <p:cNvSpPr/>
          <p:nvPr/>
        </p:nvSpPr>
        <p:spPr>
          <a:xfrm>
            <a:off x="3328416" y="4507992"/>
            <a:ext cx="24688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Native Multilingual Intent Detection</a:t>
            </a:r>
            <a:endParaRPr lang="en-US" sz="900" dirty="0"/>
          </a:p>
        </p:txBody>
      </p:sp>
      <p:sp>
        <p:nvSpPr>
          <p:cNvPr id="18" name="Shape 14"/>
          <p:cNvSpPr/>
          <p:nvPr/>
        </p:nvSpPr>
        <p:spPr>
          <a:xfrm>
            <a:off x="6144768" y="987552"/>
            <a:ext cx="2724912" cy="3931920"/>
          </a:xfrm>
          <a:prstGeom prst="rect">
            <a:avLst/>
          </a:prstGeom>
          <a:solidFill>
            <a:srgbClr val="1A1A1A"/>
          </a:solidFill>
          <a:ln/>
        </p:spPr>
      </p:sp>
      <p:sp>
        <p:nvSpPr>
          <p:cNvPr id="19" name="Shape 15"/>
          <p:cNvSpPr/>
          <p:nvPr/>
        </p:nvSpPr>
        <p:spPr>
          <a:xfrm>
            <a:off x="6144768" y="987552"/>
            <a:ext cx="2724912" cy="54864"/>
          </a:xfrm>
          <a:prstGeom prst="rect">
            <a:avLst/>
          </a:prstGeom>
          <a:solidFill>
            <a:srgbClr val="FF6B6B"/>
          </a:solidFill>
          <a:ln/>
        </p:spPr>
      </p:sp>
      <p:pic>
        <p:nvPicPr>
          <p:cNvPr id="20" name="Image 2" descr="preencoded.png">    </p:cNvPr>
          <p:cNvPicPr>
            <a:picLocks noChangeAspect="1"/>
          </p:cNvPicPr>
          <p:nvPr/>
        </p:nvPicPr>
        <p:blipFill>
          <a:blip r:embed="rId3"/>
          <a:stretch>
            <a:fillRect/>
          </a:stretch>
        </p:blipFill>
        <p:spPr>
          <a:xfrm>
            <a:off x="7168896" y="1188720"/>
            <a:ext cx="658368" cy="658368"/>
          </a:xfrm>
          <a:prstGeom prst="rect">
            <a:avLst/>
          </a:prstGeom>
        </p:spPr>
      </p:pic>
      <p:sp>
        <p:nvSpPr>
          <p:cNvPr id="21" name="Text 16"/>
          <p:cNvSpPr/>
          <p:nvPr/>
        </p:nvSpPr>
        <p:spPr>
          <a:xfrm>
            <a:off x="6272784" y="1947672"/>
            <a:ext cx="2468880"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Dormant Cost Architecture</a:t>
            </a:r>
            <a:endParaRPr lang="en-US" sz="1250" dirty="0"/>
          </a:p>
        </p:txBody>
      </p:sp>
      <p:sp>
        <p:nvSpPr>
          <p:cNvPr id="22" name="Text 17"/>
          <p:cNvSpPr/>
          <p:nvPr/>
        </p:nvSpPr>
        <p:spPr>
          <a:xfrm>
            <a:off x="6272784" y="2450592"/>
            <a:ext cx="2468880" cy="2011680"/>
          </a:xfrm>
          <a:prstGeom prst="rect">
            <a:avLst/>
          </a:prstGeom>
          <a:noFill/>
          <a:ln/>
        </p:spPr>
        <p:txBody>
          <a:bodyPr wrap="square" lIns="0" tIns="0" rIns="0" bIns="0" rtlCol="0" anchor="ctr"/>
          <a:lstStyle/>
          <a:p>
            <a:pPr indent="0" marL="0">
              <a:buNone/>
            </a:pPr>
            <a:r>
              <a:rPr lang="en-US" sz="900" dirty="0">
                <a:solidFill>
                  <a:srgbClr val="AAAAAA"/>
                </a:solidFill>
                <a:latin typeface="Calibri" pitchFamily="34" charset="0"/>
                <a:ea typeface="Calibri" pitchFamily="34" charset="-122"/>
                <a:cs typeface="Calibri" pitchFamily="34" charset="-120"/>
              </a:rPr>
              <a:t>Unlike traditional SaaS blood coordination systems that maintain always-on servers consuming compute even when idle, BloodMind's architecture costs near-zero between campaigns. All standard polling loops and cron jobs are disabled. Every component — from Bedrock inference to DynamoDB writes to Lambda orchestration — triggers only on events. When no campaign is active, monthly AWS costs drop to near-zero. Cost scales linearly with actual campaign volume, not with system uptime.</a:t>
            </a:r>
            <a:endParaRPr lang="en-US" sz="900" dirty="0"/>
          </a:p>
        </p:txBody>
      </p:sp>
      <p:sp>
        <p:nvSpPr>
          <p:cNvPr id="23" name="Shape 18"/>
          <p:cNvSpPr/>
          <p:nvPr/>
        </p:nvSpPr>
        <p:spPr>
          <a:xfrm>
            <a:off x="6272784" y="4507992"/>
            <a:ext cx="2468880" cy="274320"/>
          </a:xfrm>
          <a:prstGeom prst="rect">
            <a:avLst/>
          </a:prstGeom>
          <a:solidFill>
            <a:srgbClr val="FF6B6B"/>
          </a:solidFill>
          <a:ln/>
        </p:spPr>
      </p:sp>
      <p:sp>
        <p:nvSpPr>
          <p:cNvPr id="24" name="Text 19"/>
          <p:cNvSpPr/>
          <p:nvPr/>
        </p:nvSpPr>
        <p:spPr>
          <a:xfrm>
            <a:off x="6272784" y="4507992"/>
            <a:ext cx="24688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Pay-Per-Campaign, Not Per-Month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457200" y="164592"/>
            <a:ext cx="8229600" cy="411480"/>
          </a:xfrm>
          <a:prstGeom prst="rect">
            <a:avLst/>
          </a:prstGeom>
          <a:noFill/>
          <a:ln/>
        </p:spPr>
        <p:txBody>
          <a:bodyPr wrap="square" lIns="0" tIns="0" rIns="0" bIns="0" rtlCol="0" anchor="ctr"/>
          <a:lstStyle/>
          <a:p>
            <a:pPr indent="0" marL="0">
              <a:buNone/>
            </a:pPr>
            <a:r>
              <a:rPr lang="en-US" sz="2600" b="1" dirty="0">
                <a:solidFill>
                  <a:srgbClr val="C0152B"/>
                </a:solidFill>
                <a:latin typeface="Arial Black" pitchFamily="34" charset="0"/>
                <a:ea typeface="Arial Black" pitchFamily="34" charset="-122"/>
                <a:cs typeface="Arial Black" pitchFamily="34" charset="-120"/>
              </a:rPr>
              <a:t>AWS CLOUD AI CONTROL HUB</a:t>
            </a:r>
            <a:endParaRPr lang="en-US" sz="2600" dirty="0"/>
          </a:p>
        </p:txBody>
      </p:sp>
      <p:sp>
        <p:nvSpPr>
          <p:cNvPr id="3" name="Text 1"/>
          <p:cNvSpPr/>
          <p:nvPr/>
        </p:nvSpPr>
        <p:spPr>
          <a:xfrm>
            <a:off x="457200" y="566928"/>
            <a:ext cx="8686800" cy="237744"/>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/aws-insights  —  Real-time dashboard for monitoring all serverless resources, AI inferences, event streams, and campaign health</a:t>
            </a:r>
            <a:endParaRPr lang="en-US" sz="1050" dirty="0"/>
          </a:p>
        </p:txBody>
      </p:sp>
      <p:sp>
        <p:nvSpPr>
          <p:cNvPr id="4" name="Shape 2"/>
          <p:cNvSpPr/>
          <p:nvPr/>
        </p:nvSpPr>
        <p:spPr>
          <a:xfrm>
            <a:off x="274320" y="914400"/>
            <a:ext cx="4023360" cy="2148840"/>
          </a:xfrm>
          <a:prstGeom prst="rect">
            <a:avLst/>
          </a:prstGeom>
          <a:solidFill>
            <a:srgbClr val="1A1A1A"/>
          </a:solidFill>
          <a:ln/>
        </p:spPr>
      </p:sp>
      <p:sp>
        <p:nvSpPr>
          <p:cNvPr id="5" name="Shape 3"/>
          <p:cNvSpPr/>
          <p:nvPr/>
        </p:nvSpPr>
        <p:spPr>
          <a:xfrm>
            <a:off x="274320" y="914400"/>
            <a:ext cx="4023360" cy="45720"/>
          </a:xfrm>
          <a:prstGeom prst="rect">
            <a:avLst/>
          </a:prstGeom>
          <a:solidFill>
            <a:srgbClr val="00B4D8"/>
          </a:solidFill>
          <a:ln/>
        </p:spPr>
      </p:sp>
      <p:sp>
        <p:nvSpPr>
          <p:cNvPr id="6" name="Text 4"/>
          <p:cNvSpPr/>
          <p:nvPr/>
        </p:nvSpPr>
        <p:spPr>
          <a:xfrm>
            <a:off x="411480" y="969264"/>
            <a:ext cx="3749040" cy="256032"/>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  SERVICE HEALTH MONITOR</a:t>
            </a:r>
            <a:endParaRPr lang="en-US" sz="1100" dirty="0"/>
          </a:p>
        </p:txBody>
      </p:sp>
      <p:sp>
        <p:nvSpPr>
          <p:cNvPr id="7" name="Text 5"/>
          <p:cNvSpPr/>
          <p:nvPr/>
        </p:nvSpPr>
        <p:spPr>
          <a:xfrm>
            <a:off x="411480" y="1207008"/>
            <a:ext cx="3749040" cy="201168"/>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Live connectivity status for all critical infrastructure services</a:t>
            </a:r>
            <a:endParaRPr lang="en-US" sz="850" dirty="0"/>
          </a:p>
        </p:txBody>
      </p:sp>
      <p:sp>
        <p:nvSpPr>
          <p:cNvPr id="8" name="Shape 6"/>
          <p:cNvSpPr/>
          <p:nvPr/>
        </p:nvSpPr>
        <p:spPr>
          <a:xfrm>
            <a:off x="411480" y="1536192"/>
            <a:ext cx="201168" cy="201168"/>
          </a:xfrm>
          <a:prstGeom prst="ellipse">
            <a:avLst/>
          </a:prstGeom>
          <a:solidFill>
            <a:srgbClr val="00C851"/>
          </a:solidFill>
          <a:ln/>
        </p:spPr>
      </p:sp>
      <p:sp>
        <p:nvSpPr>
          <p:cNvPr id="9" name="Text 7"/>
          <p:cNvSpPr/>
          <p:nvPr/>
        </p:nvSpPr>
        <p:spPr>
          <a:xfrm>
            <a:off x="676656" y="1481328"/>
            <a:ext cx="1280160" cy="237744"/>
          </a:xfrm>
          <a:prstGeom prst="rect">
            <a:avLst/>
          </a:prstGeom>
          <a:noFill/>
          <a:ln/>
        </p:spPr>
        <p:txBody>
          <a:bodyPr wrap="square" lIns="0" tIns="0" rIns="0" bIns="0" rtlCol="0" anchor="ctr"/>
          <a:lstStyle/>
          <a:p>
            <a:pPr indent="0" marL="0">
              <a:buNone/>
            </a:pPr>
            <a:r>
              <a:rPr lang="en-US" sz="900" b="1" dirty="0">
                <a:solidFill>
                  <a:srgbClr val="00C851"/>
                </a:solidFill>
                <a:latin typeface="Calibri" pitchFamily="34" charset="0"/>
                <a:ea typeface="Calibri" pitchFamily="34" charset="-122"/>
                <a:cs typeface="Calibri" pitchFamily="34" charset="-120"/>
              </a:rPr>
              <a:t>CONNECTED</a:t>
            </a:r>
            <a:endParaRPr lang="en-US" sz="900" dirty="0"/>
          </a:p>
        </p:txBody>
      </p:sp>
      <p:sp>
        <p:nvSpPr>
          <p:cNvPr id="10" name="Text 8"/>
          <p:cNvSpPr/>
          <p:nvPr/>
        </p:nvSpPr>
        <p:spPr>
          <a:xfrm>
            <a:off x="676656" y="1700784"/>
            <a:ext cx="201168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Amazon Bedrock</a:t>
            </a:r>
            <a:endParaRPr lang="en-US" sz="950" dirty="0"/>
          </a:p>
        </p:txBody>
      </p:sp>
      <p:sp>
        <p:nvSpPr>
          <p:cNvPr id="11" name="Text 9"/>
          <p:cNvSpPr/>
          <p:nvPr/>
        </p:nvSpPr>
        <p:spPr>
          <a:xfrm>
            <a:off x="676656" y="1865376"/>
            <a:ext cx="3474720" cy="16459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NLP + Copy Generation</a:t>
            </a:r>
            <a:endParaRPr lang="en-US" sz="850" dirty="0"/>
          </a:p>
        </p:txBody>
      </p:sp>
      <p:sp>
        <p:nvSpPr>
          <p:cNvPr id="12" name="Shape 10"/>
          <p:cNvSpPr/>
          <p:nvPr/>
        </p:nvSpPr>
        <p:spPr>
          <a:xfrm>
            <a:off x="411480" y="2048256"/>
            <a:ext cx="201168" cy="201168"/>
          </a:xfrm>
          <a:prstGeom prst="ellipse">
            <a:avLst/>
          </a:prstGeom>
          <a:solidFill>
            <a:srgbClr val="00C851"/>
          </a:solidFill>
          <a:ln/>
        </p:spPr>
      </p:sp>
      <p:sp>
        <p:nvSpPr>
          <p:cNvPr id="13" name="Text 11"/>
          <p:cNvSpPr/>
          <p:nvPr/>
        </p:nvSpPr>
        <p:spPr>
          <a:xfrm>
            <a:off x="676656" y="1993392"/>
            <a:ext cx="1280160" cy="237744"/>
          </a:xfrm>
          <a:prstGeom prst="rect">
            <a:avLst/>
          </a:prstGeom>
          <a:noFill/>
          <a:ln/>
        </p:spPr>
        <p:txBody>
          <a:bodyPr wrap="square" lIns="0" tIns="0" rIns="0" bIns="0" rtlCol="0" anchor="ctr"/>
          <a:lstStyle/>
          <a:p>
            <a:pPr indent="0" marL="0">
              <a:buNone/>
            </a:pPr>
            <a:r>
              <a:rPr lang="en-US" sz="900" b="1" dirty="0">
                <a:solidFill>
                  <a:srgbClr val="00C851"/>
                </a:solidFill>
                <a:latin typeface="Calibri" pitchFamily="34" charset="0"/>
                <a:ea typeface="Calibri" pitchFamily="34" charset="-122"/>
                <a:cs typeface="Calibri" pitchFamily="34" charset="-120"/>
              </a:rPr>
              <a:t>CONNECTED</a:t>
            </a:r>
            <a:endParaRPr lang="en-US" sz="900" dirty="0"/>
          </a:p>
        </p:txBody>
      </p:sp>
      <p:sp>
        <p:nvSpPr>
          <p:cNvPr id="14" name="Text 12"/>
          <p:cNvSpPr/>
          <p:nvPr/>
        </p:nvSpPr>
        <p:spPr>
          <a:xfrm>
            <a:off x="676656" y="2212848"/>
            <a:ext cx="201168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DynamoDB Cache</a:t>
            </a:r>
            <a:endParaRPr lang="en-US" sz="950" dirty="0"/>
          </a:p>
        </p:txBody>
      </p:sp>
      <p:sp>
        <p:nvSpPr>
          <p:cNvPr id="15" name="Text 13"/>
          <p:cNvSpPr/>
          <p:nvPr/>
        </p:nvSpPr>
        <p:spPr>
          <a:xfrm>
            <a:off x="676656" y="2377440"/>
            <a:ext cx="3474720" cy="16459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Active Campaign State</a:t>
            </a:r>
            <a:endParaRPr lang="en-US" sz="850" dirty="0"/>
          </a:p>
        </p:txBody>
      </p:sp>
      <p:sp>
        <p:nvSpPr>
          <p:cNvPr id="16" name="Shape 14"/>
          <p:cNvSpPr/>
          <p:nvPr/>
        </p:nvSpPr>
        <p:spPr>
          <a:xfrm>
            <a:off x="411480" y="2560320"/>
            <a:ext cx="201168" cy="201168"/>
          </a:xfrm>
          <a:prstGeom prst="ellipse">
            <a:avLst/>
          </a:prstGeom>
          <a:solidFill>
            <a:srgbClr val="00C851"/>
          </a:solidFill>
          <a:ln/>
        </p:spPr>
      </p:sp>
      <p:sp>
        <p:nvSpPr>
          <p:cNvPr id="17" name="Text 15"/>
          <p:cNvSpPr/>
          <p:nvPr/>
        </p:nvSpPr>
        <p:spPr>
          <a:xfrm>
            <a:off x="676656" y="2505456"/>
            <a:ext cx="1280160" cy="237744"/>
          </a:xfrm>
          <a:prstGeom prst="rect">
            <a:avLst/>
          </a:prstGeom>
          <a:noFill/>
          <a:ln/>
        </p:spPr>
        <p:txBody>
          <a:bodyPr wrap="square" lIns="0" tIns="0" rIns="0" bIns="0" rtlCol="0" anchor="ctr"/>
          <a:lstStyle/>
          <a:p>
            <a:pPr indent="0" marL="0">
              <a:buNone/>
            </a:pPr>
            <a:r>
              <a:rPr lang="en-US" sz="900" b="1" dirty="0">
                <a:solidFill>
                  <a:srgbClr val="00C851"/>
                </a:solidFill>
                <a:latin typeface="Calibri" pitchFamily="34" charset="0"/>
                <a:ea typeface="Calibri" pitchFamily="34" charset="-122"/>
                <a:cs typeface="Calibri" pitchFamily="34" charset="-120"/>
              </a:rPr>
              <a:t>CONNECTED</a:t>
            </a:r>
            <a:endParaRPr lang="en-US" sz="900" dirty="0"/>
          </a:p>
        </p:txBody>
      </p:sp>
      <p:sp>
        <p:nvSpPr>
          <p:cNvPr id="18" name="Text 16"/>
          <p:cNvSpPr/>
          <p:nvPr/>
        </p:nvSpPr>
        <p:spPr>
          <a:xfrm>
            <a:off x="676656" y="2724912"/>
            <a:ext cx="201168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Kinesis Streams</a:t>
            </a:r>
            <a:endParaRPr lang="en-US" sz="950" dirty="0"/>
          </a:p>
        </p:txBody>
      </p:sp>
      <p:sp>
        <p:nvSpPr>
          <p:cNvPr id="19" name="Text 17"/>
          <p:cNvSpPr/>
          <p:nvPr/>
        </p:nvSpPr>
        <p:spPr>
          <a:xfrm>
            <a:off x="676656" y="2889504"/>
            <a:ext cx="3474720" cy="164592"/>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Real-Time Event Ingestion</a:t>
            </a:r>
            <a:endParaRPr lang="en-US" sz="850" dirty="0"/>
          </a:p>
        </p:txBody>
      </p:sp>
      <p:sp>
        <p:nvSpPr>
          <p:cNvPr id="20" name="Shape 18"/>
          <p:cNvSpPr/>
          <p:nvPr/>
        </p:nvSpPr>
        <p:spPr>
          <a:xfrm>
            <a:off x="4480560" y="914400"/>
            <a:ext cx="4343400" cy="2148840"/>
          </a:xfrm>
          <a:prstGeom prst="rect">
            <a:avLst/>
          </a:prstGeom>
          <a:solidFill>
            <a:srgbClr val="1A1A1A"/>
          </a:solidFill>
          <a:ln/>
        </p:spPr>
      </p:sp>
      <p:sp>
        <p:nvSpPr>
          <p:cNvPr id="21" name="Shape 19"/>
          <p:cNvSpPr/>
          <p:nvPr/>
        </p:nvSpPr>
        <p:spPr>
          <a:xfrm>
            <a:off x="4480560" y="914400"/>
            <a:ext cx="4343400" cy="45720"/>
          </a:xfrm>
          <a:prstGeom prst="rect">
            <a:avLst/>
          </a:prstGeom>
          <a:solidFill>
            <a:srgbClr val="FFB703"/>
          </a:solidFill>
          <a:ln/>
        </p:spPr>
      </p:sp>
      <p:sp>
        <p:nvSpPr>
          <p:cNvPr id="22" name="Text 20"/>
          <p:cNvSpPr/>
          <p:nvPr/>
        </p:nvSpPr>
        <p:spPr>
          <a:xfrm>
            <a:off x="4617720" y="969264"/>
            <a:ext cx="4114800" cy="256032"/>
          </a:xfrm>
          <a:prstGeom prst="rect">
            <a:avLst/>
          </a:prstGeom>
          <a:noFill/>
          <a:ln/>
        </p:spPr>
        <p:txBody>
          <a:bodyPr wrap="square" lIns="0" tIns="0" rIns="0" bIns="0"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  KINESIS TELEMETRY STREAM</a:t>
            </a:r>
            <a:endParaRPr lang="en-US" sz="1100" dirty="0"/>
          </a:p>
        </p:txBody>
      </p:sp>
      <p:sp>
        <p:nvSpPr>
          <p:cNvPr id="23" name="Text 21"/>
          <p:cNvSpPr/>
          <p:nvPr/>
        </p:nvSpPr>
        <p:spPr>
          <a:xfrm>
            <a:off x="4617720" y="1207008"/>
            <a:ext cx="4114800" cy="201168"/>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Raw JSON event payloads ingested in real-time from campaign microservices</a:t>
            </a:r>
            <a:endParaRPr lang="en-US" sz="850" dirty="0"/>
          </a:p>
        </p:txBody>
      </p:sp>
      <p:sp>
        <p:nvSpPr>
          <p:cNvPr id="24" name="Shape 22"/>
          <p:cNvSpPr/>
          <p:nvPr/>
        </p:nvSpPr>
        <p:spPr>
          <a:xfrm>
            <a:off x="4617720" y="1481328"/>
            <a:ext cx="4114800" cy="402336"/>
          </a:xfrm>
          <a:prstGeom prst="rect">
            <a:avLst/>
          </a:prstGeom>
          <a:solidFill>
            <a:srgbClr val="2E2E2E"/>
          </a:solidFill>
          <a:ln/>
        </p:spPr>
      </p:sp>
      <p:sp>
        <p:nvSpPr>
          <p:cNvPr id="25" name="Text 23"/>
          <p:cNvSpPr/>
          <p:nvPr/>
        </p:nvSpPr>
        <p:spPr>
          <a:xfrm>
            <a:off x="4663440" y="1517904"/>
            <a:ext cx="4023360" cy="329184"/>
          </a:xfrm>
          <a:prstGeom prst="rect">
            <a:avLst/>
          </a:prstGeom>
          <a:noFill/>
          <a:ln/>
        </p:spPr>
        <p:txBody>
          <a:bodyPr wrap="square" lIns="0" tIns="0" rIns="0" bIns="0" rtlCol="0" anchor="ctr"/>
          <a:lstStyle/>
          <a:p>
            <a:pPr indent="0" marL="0">
              <a:buNone/>
            </a:pPr>
            <a:r>
              <a:rPr lang="en-US" sz="800" dirty="0">
                <a:solidFill>
                  <a:srgbClr val="FFB703"/>
                </a:solidFill>
                <a:latin typeface="Consolas" pitchFamily="34" charset="0"/>
                <a:ea typeface="Consolas" pitchFamily="34" charset="-122"/>
                <a:cs typeface="Consolas" pitchFamily="34" charset="-120"/>
              </a:rPr>
              <a:t>{ "event": "DonorRegistered", "donorId": "D-4821", "blood": "A+", "ts": "live" }</a:t>
            </a:r>
            <a:endParaRPr lang="en-US" sz="800" dirty="0"/>
          </a:p>
        </p:txBody>
      </p:sp>
      <p:sp>
        <p:nvSpPr>
          <p:cNvPr id="26" name="Shape 24"/>
          <p:cNvSpPr/>
          <p:nvPr/>
        </p:nvSpPr>
        <p:spPr>
          <a:xfrm>
            <a:off x="4617720" y="1975104"/>
            <a:ext cx="4114800" cy="402336"/>
          </a:xfrm>
          <a:prstGeom prst="rect">
            <a:avLst/>
          </a:prstGeom>
          <a:solidFill>
            <a:srgbClr val="2E2E2E"/>
          </a:solidFill>
          <a:ln/>
        </p:spPr>
      </p:sp>
      <p:sp>
        <p:nvSpPr>
          <p:cNvPr id="27" name="Text 25"/>
          <p:cNvSpPr/>
          <p:nvPr/>
        </p:nvSpPr>
        <p:spPr>
          <a:xfrm>
            <a:off x="4663440" y="2011680"/>
            <a:ext cx="4023360" cy="329184"/>
          </a:xfrm>
          <a:prstGeom prst="rect">
            <a:avLst/>
          </a:prstGeom>
          <a:noFill/>
          <a:ln/>
        </p:spPr>
        <p:txBody>
          <a:bodyPr wrap="square" lIns="0" tIns="0" rIns="0" bIns="0" rtlCol="0" anchor="ctr"/>
          <a:lstStyle/>
          <a:p>
            <a:pPr indent="0" marL="0">
              <a:buNone/>
            </a:pPr>
            <a:r>
              <a:rPr lang="en-US" sz="800" dirty="0">
                <a:solidFill>
                  <a:srgbClr val="FFB703"/>
                </a:solidFill>
                <a:latin typeface="Consolas" pitchFamily="34" charset="0"/>
                <a:ea typeface="Consolas" pitchFamily="34" charset="-122"/>
                <a:cs typeface="Consolas" pitchFamily="34" charset="-120"/>
              </a:rPr>
              <a:t>{ "event": "OutreachSent",    "channel": "WhatsApp", "lang": "Telugu", "ts": "live" }</a:t>
            </a:r>
            <a:endParaRPr lang="en-US" sz="800" dirty="0"/>
          </a:p>
        </p:txBody>
      </p:sp>
      <p:sp>
        <p:nvSpPr>
          <p:cNvPr id="28" name="Shape 26"/>
          <p:cNvSpPr/>
          <p:nvPr/>
        </p:nvSpPr>
        <p:spPr>
          <a:xfrm>
            <a:off x="4617720" y="2468880"/>
            <a:ext cx="4114800" cy="402336"/>
          </a:xfrm>
          <a:prstGeom prst="rect">
            <a:avLst/>
          </a:prstGeom>
          <a:solidFill>
            <a:srgbClr val="2E2E2E"/>
          </a:solidFill>
          <a:ln/>
        </p:spPr>
      </p:sp>
      <p:sp>
        <p:nvSpPr>
          <p:cNvPr id="29" name="Text 27"/>
          <p:cNvSpPr/>
          <p:nvPr/>
        </p:nvSpPr>
        <p:spPr>
          <a:xfrm>
            <a:off x="4663440" y="2505456"/>
            <a:ext cx="4023360" cy="329184"/>
          </a:xfrm>
          <a:prstGeom prst="rect">
            <a:avLst/>
          </a:prstGeom>
          <a:noFill/>
          <a:ln/>
        </p:spPr>
        <p:txBody>
          <a:bodyPr wrap="square" lIns="0" tIns="0" rIns="0" bIns="0" rtlCol="0" anchor="ctr"/>
          <a:lstStyle/>
          <a:p>
            <a:pPr indent="0" marL="0">
              <a:buNone/>
            </a:pPr>
            <a:r>
              <a:rPr lang="en-US" sz="800" dirty="0">
                <a:solidFill>
                  <a:srgbClr val="FFB703"/>
                </a:solidFill>
                <a:latin typeface="Consolas" pitchFamily="34" charset="0"/>
                <a:ea typeface="Consolas" pitchFamily="34" charset="-122"/>
                <a:cs typeface="Consolas" pitchFamily="34" charset="-120"/>
              </a:rPr>
              <a:t>{ "event": "DonorResponded",  "intent": "YES", "appointmentBooked": true }</a:t>
            </a:r>
            <a:endParaRPr lang="en-US" sz="800" dirty="0"/>
          </a:p>
        </p:txBody>
      </p:sp>
      <p:sp>
        <p:nvSpPr>
          <p:cNvPr id="30" name="Shape 28"/>
          <p:cNvSpPr/>
          <p:nvPr/>
        </p:nvSpPr>
        <p:spPr>
          <a:xfrm>
            <a:off x="274320" y="3200400"/>
            <a:ext cx="4023360" cy="1828800"/>
          </a:xfrm>
          <a:prstGeom prst="rect">
            <a:avLst/>
          </a:prstGeom>
          <a:solidFill>
            <a:srgbClr val="1A1A1A"/>
          </a:solidFill>
          <a:ln/>
        </p:spPr>
      </p:sp>
      <p:sp>
        <p:nvSpPr>
          <p:cNvPr id="31" name="Shape 29"/>
          <p:cNvSpPr/>
          <p:nvPr/>
        </p:nvSpPr>
        <p:spPr>
          <a:xfrm>
            <a:off x="274320" y="3200400"/>
            <a:ext cx="4023360" cy="45720"/>
          </a:xfrm>
          <a:prstGeom prst="rect">
            <a:avLst/>
          </a:prstGeom>
          <a:solidFill>
            <a:srgbClr val="8B5CF6"/>
          </a:solidFill>
          <a:ln/>
        </p:spPr>
      </p:sp>
      <p:sp>
        <p:nvSpPr>
          <p:cNvPr id="32" name="Text 30"/>
          <p:cNvSpPr/>
          <p:nvPr/>
        </p:nvSpPr>
        <p:spPr>
          <a:xfrm>
            <a:off x="411480" y="3255264"/>
            <a:ext cx="3749040" cy="256032"/>
          </a:xfrm>
          <a:prstGeom prst="rect">
            <a:avLst/>
          </a:prstGeom>
          <a:noFill/>
          <a:ln/>
        </p:spPr>
        <p:txBody>
          <a:bodyPr wrap="square" lIns="0" tIns="0" rIns="0" bIns="0" rtlCol="0" anchor="ctr"/>
          <a:lstStyle/>
          <a:p>
            <a:pPr indent="0" marL="0">
              <a:buNone/>
            </a:pPr>
            <a:r>
              <a:rPr lang="en-US" sz="1100" b="1" dirty="0">
                <a:solidFill>
                  <a:srgbClr val="8B5CF6"/>
                </a:solidFill>
                <a:latin typeface="Calibri" pitchFamily="34" charset="0"/>
                <a:ea typeface="Calibri" pitchFamily="34" charset="-122"/>
                <a:cs typeface="Calibri" pitchFamily="34" charset="-120"/>
              </a:rPr>
              <a:t>📊  DYNAMODB RUN LOGS</a:t>
            </a:r>
            <a:endParaRPr lang="en-US" sz="1100" dirty="0"/>
          </a:p>
        </p:txBody>
      </p:sp>
      <p:sp>
        <p:nvSpPr>
          <p:cNvPr id="33" name="Text 31"/>
          <p:cNvSpPr/>
          <p:nvPr/>
        </p:nvSpPr>
        <p:spPr>
          <a:xfrm>
            <a:off x="411480" y="3493008"/>
            <a:ext cx="3749040" cy="201168"/>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Campaign orchestration history with outcome status per stage</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3730752"/>
          <a:ext cx="3749040" cy="1188720"/>
        </p:xfrm>
        <a:graphic>
          <a:graphicData uri="http://schemas.openxmlformats.org/drawingml/2006/table">
            <a:tbl>
              <a:tblPr/>
              <a:tblGrid>
                <a:gridCol w="937260"/>
                <a:gridCol w="937260"/>
                <a:gridCol w="937260"/>
                <a:gridCol w="937260"/>
              </a:tblGrid>
              <a:tr h="29718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Run ID</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E2E2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E2E2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Stage</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E2E2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Patient</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E2E2E"/>
                    </a:solidFill>
                  </a:tcPr>
                </a:tc>
              </a:tr>
              <a:tr h="297180">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RUN-001</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00C851"/>
                          </a:solidFill>
                          <a:latin typeface="Calibri" pitchFamily="34" charset="0"/>
                          <a:ea typeface="Calibri" pitchFamily="34" charset="-122"/>
                          <a:cs typeface="Calibri" pitchFamily="34" charset="-120"/>
                        </a:rPr>
                        <a:t>✅ OK</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Predict</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Rahul K.</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r>
              <a:tr h="297180">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RUN-002</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00C851"/>
                          </a:solidFill>
                          <a:latin typeface="Calibri" pitchFamily="34" charset="0"/>
                          <a:ea typeface="Calibri" pitchFamily="34" charset="-122"/>
                          <a:cs typeface="Calibri" pitchFamily="34" charset="-120"/>
                        </a:rPr>
                        <a:t>✅ OK</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Outreach</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Rahul K.</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r>
              <a:tr h="297180">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RUN-003</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00C851"/>
                          </a:solidFill>
                          <a:latin typeface="Calibri" pitchFamily="34" charset="0"/>
                          <a:ea typeface="Calibri" pitchFamily="34" charset="-122"/>
                          <a:cs typeface="Calibri" pitchFamily="34" charset="-120"/>
                        </a:rPr>
                        <a:t>✅ OK</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Book Appt</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c>
                  <a:txBody>
                    <a:bodyPr/>
                    <a:lstStyle/>
                    <a:p>
                      <a:pPr indent="0" marL="0">
                        <a:buNone/>
                      </a:pPr>
                      <a:r>
                        <a:rPr lang="en-US" sz="900" dirty="0">
                          <a:solidFill>
                            <a:srgbClr val="AAAAAA"/>
                          </a:solidFill>
                          <a:latin typeface="Calibri" pitchFamily="34" charset="0"/>
                          <a:ea typeface="Calibri" pitchFamily="34" charset="-122"/>
                          <a:cs typeface="Calibri" pitchFamily="34" charset="-120"/>
                        </a:rPr>
                        <a:t>Rahul K.</a:t>
                      </a:r>
                      <a:endParaRPr lang="en-US" sz="900" dirty="0">
                        <a:latin typeface="Calibri" charset="0"/>
                        <a:ea typeface="Calibri" charset="0"/>
                        <a:cs typeface="Calibri"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1A"/>
                    </a:solidFill>
                  </a:tcPr>
                </a:tc>
              </a:tr>
            </a:tbl>
          </a:graphicData>
        </a:graphic>
      </p:graphicFrame>
      <p:sp>
        <p:nvSpPr>
          <p:cNvPr id="35" name="Shape 32"/>
          <p:cNvSpPr/>
          <p:nvPr/>
        </p:nvSpPr>
        <p:spPr>
          <a:xfrm>
            <a:off x="4480560" y="3200400"/>
            <a:ext cx="4343400" cy="1828800"/>
          </a:xfrm>
          <a:prstGeom prst="rect">
            <a:avLst/>
          </a:prstGeom>
          <a:solidFill>
            <a:srgbClr val="1A1A1A"/>
          </a:solidFill>
          <a:ln/>
        </p:spPr>
      </p:sp>
      <p:sp>
        <p:nvSpPr>
          <p:cNvPr id="36" name="Shape 33"/>
          <p:cNvSpPr/>
          <p:nvPr/>
        </p:nvSpPr>
        <p:spPr>
          <a:xfrm>
            <a:off x="4480560" y="3200400"/>
            <a:ext cx="4343400" cy="45720"/>
          </a:xfrm>
          <a:prstGeom prst="rect">
            <a:avLst/>
          </a:prstGeom>
          <a:solidFill>
            <a:srgbClr val="C0152B"/>
          </a:solidFill>
          <a:ln/>
        </p:spPr>
      </p:sp>
      <p:sp>
        <p:nvSpPr>
          <p:cNvPr id="37" name="Text 34"/>
          <p:cNvSpPr/>
          <p:nvPr/>
        </p:nvSpPr>
        <p:spPr>
          <a:xfrm>
            <a:off x="4617720" y="3255264"/>
            <a:ext cx="4114800" cy="256032"/>
          </a:xfrm>
          <a:prstGeom prst="rect">
            <a:avLst/>
          </a:prstGeom>
          <a:noFill/>
          <a:ln/>
        </p:spPr>
        <p:txBody>
          <a:bodyPr wrap="square" lIns="0" tIns="0" rIns="0" bIns="0" rtlCol="0" anchor="ctr"/>
          <a:lstStyle/>
          <a:p>
            <a:pPr indent="0" marL="0">
              <a:buNone/>
            </a:pPr>
            <a:r>
              <a:rPr lang="en-US" sz="1100" b="1" dirty="0">
                <a:solidFill>
                  <a:srgbClr val="C0152B"/>
                </a:solidFill>
                <a:latin typeface="Calibri" pitchFamily="34" charset="0"/>
                <a:ea typeface="Calibri" pitchFamily="34" charset="-122"/>
                <a:cs typeface="Calibri" pitchFamily="34" charset="-120"/>
              </a:rPr>
              <a:t>🤖  BEDROCK SANDBOX (Claude 3 Haiku)</a:t>
            </a:r>
            <a:endParaRPr lang="en-US" sz="1100" dirty="0"/>
          </a:p>
        </p:txBody>
      </p:sp>
      <p:sp>
        <p:nvSpPr>
          <p:cNvPr id="38" name="Text 35"/>
          <p:cNvSpPr/>
          <p:nvPr/>
        </p:nvSpPr>
        <p:spPr>
          <a:xfrm>
            <a:off x="4617720" y="3493008"/>
            <a:ext cx="4114800" cy="201168"/>
          </a:xfrm>
          <a:prstGeom prst="rect">
            <a:avLst/>
          </a:prstGeom>
          <a:noFill/>
          <a:ln/>
        </p:spPr>
        <p:txBody>
          <a:bodyPr wrap="square" lIns="0" tIns="0" rIns="0" bIns="0" rtlCol="0" anchor="ctr"/>
          <a:lstStyle/>
          <a:p>
            <a:pPr indent="0" marL="0">
              <a:buNone/>
            </a:pPr>
            <a:r>
              <a:rPr lang="en-US" sz="850" dirty="0">
                <a:solidFill>
                  <a:srgbClr val="AAAAAA"/>
                </a:solidFill>
                <a:latin typeface="Calibri" pitchFamily="34" charset="0"/>
                <a:ea typeface="Calibri" pitchFamily="34" charset="-122"/>
                <a:cs typeface="Calibri" pitchFamily="34" charset="-120"/>
              </a:rPr>
              <a:t>Interactive tester for validating AI-generated outreach copy and NLP intent parsing</a:t>
            </a:r>
            <a:endParaRPr lang="en-US" sz="850" dirty="0"/>
          </a:p>
        </p:txBody>
      </p:sp>
      <p:sp>
        <p:nvSpPr>
          <p:cNvPr id="39" name="Shape 36"/>
          <p:cNvSpPr/>
          <p:nvPr/>
        </p:nvSpPr>
        <p:spPr>
          <a:xfrm>
            <a:off x="4617720" y="3749040"/>
            <a:ext cx="4114800" cy="402336"/>
          </a:xfrm>
          <a:prstGeom prst="rect">
            <a:avLst/>
          </a:prstGeom>
          <a:solidFill>
            <a:srgbClr val="2E2E2E"/>
          </a:solidFill>
          <a:ln/>
        </p:spPr>
      </p:sp>
      <p:sp>
        <p:nvSpPr>
          <p:cNvPr id="40" name="Text 37"/>
          <p:cNvSpPr/>
          <p:nvPr/>
        </p:nvSpPr>
        <p:spPr>
          <a:xfrm>
            <a:off x="4663440" y="3767328"/>
            <a:ext cx="4023360" cy="365760"/>
          </a:xfrm>
          <a:prstGeom prst="rect">
            <a:avLst/>
          </a:prstGeom>
          <a:noFill/>
          <a:ln/>
        </p:spPr>
        <p:txBody>
          <a:bodyPr wrap="square" lIns="0" tIns="0" rIns="0" bIns="0" rtlCol="0" anchor="ctr"/>
          <a:lstStyle/>
          <a:p>
            <a:pPr indent="0" marL="0">
              <a:buNone/>
            </a:pPr>
            <a:r>
              <a:rPr lang="en-US" sz="780" dirty="0">
                <a:solidFill>
                  <a:srgbClr val="00B4D8"/>
                </a:solidFill>
                <a:latin typeface="Consolas" pitchFamily="34" charset="0"/>
                <a:ea typeface="Consolas" pitchFamily="34" charset="-122"/>
                <a:cs typeface="Consolas" pitchFamily="34" charset="-120"/>
              </a:rPr>
              <a:t>INPUT  →  "Generate Telugu WhatsApp outreach for A+ donor Akhil, urgency HIGH, patient Rahul 14 yrs"</a:t>
            </a:r>
            <a:endParaRPr lang="en-US" sz="780" dirty="0"/>
          </a:p>
        </p:txBody>
      </p:sp>
      <p:sp>
        <p:nvSpPr>
          <p:cNvPr id="41" name="Shape 38"/>
          <p:cNvSpPr/>
          <p:nvPr/>
        </p:nvSpPr>
        <p:spPr>
          <a:xfrm>
            <a:off x="4617720" y="4206240"/>
            <a:ext cx="4114800" cy="694944"/>
          </a:xfrm>
          <a:prstGeom prst="rect">
            <a:avLst/>
          </a:prstGeom>
          <a:solidFill>
            <a:srgbClr val="2E2E2E"/>
          </a:solidFill>
          <a:ln/>
        </p:spPr>
      </p:sp>
      <p:sp>
        <p:nvSpPr>
          <p:cNvPr id="42" name="Text 39"/>
          <p:cNvSpPr/>
          <p:nvPr/>
        </p:nvSpPr>
        <p:spPr>
          <a:xfrm>
            <a:off x="4663440" y="4233672"/>
            <a:ext cx="4023360" cy="640080"/>
          </a:xfrm>
          <a:prstGeom prst="rect">
            <a:avLst/>
          </a:prstGeom>
          <a:noFill/>
          <a:ln/>
        </p:spPr>
        <p:txBody>
          <a:bodyPr wrap="square" lIns="0" tIns="0" rIns="0" bIns="0" rtlCol="0" anchor="ctr"/>
          <a:lstStyle/>
          <a:p>
            <a:pPr indent="0" marL="0">
              <a:buNone/>
            </a:pPr>
            <a:r>
              <a:rPr lang="en-US" sz="780" dirty="0">
                <a:solidFill>
                  <a:srgbClr val="FFB703"/>
                </a:solidFill>
                <a:latin typeface="Consolas" pitchFamily="34" charset="0"/>
                <a:ea typeface="Consolas" pitchFamily="34" charset="-122"/>
                <a:cs typeface="Consolas" pitchFamily="34" charset="-120"/>
              </a:rPr>
              <a:t>OUTPUT  →  "[Blood Warriors] హాయ్ Akhil! Hyderabad లో</a:t>
            </a:r>
            <a:endParaRPr lang="en-US" sz="780" dirty="0"/>
          </a:p>
          <a:p>
            <a:pPr indent="0" marL="0">
              <a:buNone/>
            </a:pPr>
            <a:r>
              <a:rPr lang="en-US" sz="780" dirty="0">
                <a:solidFill>
                  <a:srgbClr val="FFB703"/>
                </a:solidFill>
                <a:latin typeface="Consolas" pitchFamily="34" charset="0"/>
                <a:ea typeface="Consolas" pitchFamily="34" charset="-122"/>
                <a:cs typeface="Consolas" pitchFamily="34" charset="-120"/>
              </a:rPr>
              <a:t>Rahul (14 yrs) patient కు A Positive రక్తం</a:t>
            </a:r>
            <a:endParaRPr lang="en-US" sz="780" dirty="0"/>
          </a:p>
          <a:p>
            <a:pPr indent="0" marL="0">
              <a:buNone/>
            </a:pPr>
            <a:r>
              <a:rPr lang="en-US" sz="780" dirty="0">
                <a:solidFill>
                  <a:srgbClr val="FFB703"/>
                </a:solidFill>
                <a:latin typeface="Consolas" pitchFamily="34" charset="0"/>
                <a:ea typeface="Consolas" pitchFamily="34" charset="-122"/>
                <a:cs typeface="Consolas" pitchFamily="34" charset="-120"/>
              </a:rPr>
              <a:t>చాలా అవసరం. మీరు సహాయం చేయగలరా?"</a:t>
            </a:r>
            <a:endParaRPr lang="en-US" sz="78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365760" y="164592"/>
            <a:ext cx="8412480" cy="475488"/>
          </a:xfrm>
          <a:prstGeom prst="rect">
            <a:avLst/>
          </a:prstGeom>
          <a:noFill/>
        </p:spPr>
        <p:txBody>
          <a:bodyPr wrap="none">
            <a:spAutoFit/>
          </a:bodyPr>
          <a:lstStyle/>
          <a:p>
            <a:pPr>
              <a:defRPr sz="2200" b="1">
                <a:solidFill>
                  <a:srgbClr val="C0152B"/>
                </a:solidFill>
                <a:latin typeface="Arial Black"/>
              </a:defRPr>
            </a:pPr>
            <a:r>
              <a:t>BLOOD WARRIORS — AWS STACK ARCHITECTURE</a:t>
            </a:r>
          </a:p>
        </p:txBody>
      </p:sp>
      <p:sp>
        <p:nvSpPr>
          <p:cNvPr id="3" name="TextBox 2"/>
          <p:cNvSpPr txBox="1"/>
          <p:nvPr/>
        </p:nvSpPr>
        <p:spPr>
          <a:xfrm>
            <a:off x="365760" y="621792"/>
            <a:ext cx="8412480" cy="256032"/>
          </a:xfrm>
          <a:prstGeom prst="rect">
            <a:avLst/>
          </a:prstGeom>
          <a:noFill/>
        </p:spPr>
        <p:txBody>
          <a:bodyPr wrap="none">
            <a:spAutoFit/>
          </a:bodyPr>
          <a:lstStyle/>
          <a:p>
            <a:pPr>
              <a:defRPr sz="1050">
                <a:solidFill>
                  <a:srgbClr val="AAAAAA"/>
                </a:solidFill>
                <a:latin typeface="Calibri"/>
              </a:defRPr>
            </a:pPr>
            <a:r>
              <a:t>5-Layer production deployment  •  Infrastructure orchestrated by Terraform  •  Serverless event-driven flow</a:t>
            </a:r>
          </a:p>
        </p:txBody>
      </p:sp>
      <p:pic>
        <p:nvPicPr>
          <p:cNvPr id="4" name="Picture 3" descr="Screenshot_2026-06-07_082925.png"/>
          <p:cNvPicPr>
            <a:picLocks noChangeAspect="1"/>
          </p:cNvPicPr>
          <p:nvPr/>
        </p:nvPicPr>
        <p:blipFill>
          <a:blip r:embed="rId2"/>
          <a:stretch>
            <a:fillRect/>
          </a:stretch>
        </p:blipFill>
        <p:spPr>
          <a:xfrm>
            <a:off x="320040" y="896112"/>
            <a:ext cx="8503920" cy="41330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BloodMind</dc:title>
  <dc:subject>PptxGenJS Presentation</dc:subject>
  <dc:creator>PptxGenJS</dc:creator>
  <cp:lastModifiedBy>PptxGenJS</cp:lastModifiedBy>
  <cp:revision>1</cp:revision>
  <dcterms:created xsi:type="dcterms:W3CDTF">2026-06-07T05:25:45Z</dcterms:created>
  <dcterms:modified xsi:type="dcterms:W3CDTF">2026-06-07T05:25:45Z</dcterms:modified>
</cp:coreProperties>
</file>